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g409LRfomSYF2BYmoiTl8BDFF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B44A5A-05A9-4A3C-8815-F296D139B816}">
  <a:tblStyle styleId="{7EB44A5A-05A9-4A3C-8815-F296D139B81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db.py"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Peyton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Peyton</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a:t>
            </a:r>
            <a:endParaRPr/>
          </a:p>
          <a:p>
            <a:pPr indent="0" lvl="0" marL="0" rtl="0" algn="l">
              <a:spcBef>
                <a:spcPts val="0"/>
              </a:spcBef>
              <a:spcAft>
                <a:spcPts val="0"/>
              </a:spcAft>
              <a:buNone/>
            </a:pPr>
            <a:r>
              <a:rPr lang="en-US"/>
              <a:t>"For this project we used a carefully selected set of tools that each played a specific role in our pipeline.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Python serves as the backbone of the entire backend, from data processing to model inference to serving the web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the database, we used PostgreSQL to handle persistent storage, user accounts, bird species profiles, and each user's identification history are all stored and queried through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Flask acts as our web server, handling routing between pages and rendering the HTML templates that make up the UI.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data science side, librosa is what lets us actually process audio; it loads the bird call recordings and converts them into mel-spectrograms, which are essentially visual fingerprints of sound. NumPy works alongside it for the array math and normalization that prepares those spectrograms for the model. And matplotlib renders those spectrograms as images that users can see on the results page.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training data comes from Xeno-canto, an open-source database of bird call recordings from contributors around the world, it gave us the labeled audio we needed to train and test our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finally, Git and GitHub kept the whole team in sync, we used branching and pull requests throughout the semester to manage contributions across all four team members."</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68236bfc0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d68236bfc0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Jake and Peyton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Jake</a:t>
            </a:r>
            <a:endParaRPr/>
          </a:p>
          <a:p>
            <a:pPr indent="0" lvl="0" marL="0" rtl="0" algn="l">
              <a:spcBef>
                <a:spcPts val="0"/>
              </a:spcBef>
              <a:spcAft>
                <a:spcPts val="0"/>
              </a:spcAft>
              <a:buNone/>
            </a:pPr>
            <a:r>
              <a:rPr lang="en-US"/>
              <a:t>“this project was significantly more attainable through easy and open-source access to an enormous library of high-quality bird call recordings, which is the xeno-canto project. While sourcing data, I would comb through available bird calls for each species and select the files with the clearest representations of the target call. I then ran a simple shell script that would extract the audio file from the page, along with the common name, scientific name, and entry identification code, which would be saved to the name of the mp3 file in our project directories. Using a shell script </a:t>
            </a:r>
            <a:r>
              <a:rPr lang="en-US"/>
              <a:t>transformed</a:t>
            </a:r>
            <a:r>
              <a:rPr lang="en-US"/>
              <a:t> a process that could have taken over an hour per bird to something that took half that time at the longest.</a:t>
            </a:r>
            <a:endParaRPr/>
          </a:p>
          <a:p>
            <a:pPr indent="0" lvl="0" marL="0" rtl="0" algn="l">
              <a:spcBef>
                <a:spcPts val="0"/>
              </a:spcBef>
              <a:spcAft>
                <a:spcPts val="0"/>
              </a:spcAft>
              <a:buNone/>
            </a:pPr>
            <a:r>
              <a:rPr lang="en-US"/>
              <a:t>Creating the background noise class was a little more labor-intensive. To ensure that the neural network would prefer the correct class for each bird, I spliced audio from our reference files that did not </a:t>
            </a:r>
            <a:r>
              <a:rPr lang="en-US"/>
              <a:t>contain</a:t>
            </a:r>
            <a:r>
              <a:rPr lang="en-US"/>
              <a:t> the bird calls themselves, so that data would activate the sixth, hidden “background noise” class, rather than disrupt the signaling to the target class. This significantly improved training quality, which is something I will discuss in a later slide. </a:t>
            </a:r>
            <a:endParaRPr/>
          </a:p>
          <a:p>
            <a:pPr indent="0" lvl="0" marL="0" rtl="0" algn="l">
              <a:spcBef>
                <a:spcPts val="0"/>
              </a:spcBef>
              <a:spcAft>
                <a:spcPts val="0"/>
              </a:spcAft>
              <a:buNone/>
            </a:pPr>
            <a:r>
              <a:rPr lang="en-US"/>
              <a:t>“To make preprocessing the data easier for the larger volumes needed for model training, I repurposed the same logic that Bri’s spectrogram generator and Peyton’s similarity ranker used for data processing, combining them into one function called dataset_builder. Peyton can tell you more about how numpy arrays were created from audio files”</a:t>
            </a:r>
            <a:endParaRPr/>
          </a:p>
        </p:txBody>
      </p:sp>
      <p:sp>
        <p:nvSpPr>
          <p:cNvPr id="99" name="Google Shape;99;g3d68236bfc0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68236bfc0_3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3d68236bfc0_3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a:t>
            </a:r>
            <a:endParaRPr/>
          </a:p>
          <a:p>
            <a:pPr indent="0" lvl="0" marL="0" rtl="0" algn="l">
              <a:spcBef>
                <a:spcPts val="0"/>
              </a:spcBef>
              <a:spcAft>
                <a:spcPts val="0"/>
              </a:spcAft>
              <a:buNone/>
            </a:pPr>
            <a:r>
              <a:rPr lang="en-US"/>
              <a:t>"Our database is built in PostgreSQL and consists of three tables that map directly to the three core features of the app — accounts, bird data, and identification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users table is straightforward. It stores a username, email, and a password hash. Critically, we never store the raw password — it's run through pbkdf2:sha256 before it ever touches the database. We also enforce UNIQUE constraints on both username and email so duplicate accounts can't be created.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bird_species table acts as our field guide. Each row represents one species and holds its common name, scientific name, a text description, and file paths to the reference audio, spectrogram, and image. This table is what gets queried when the results page displays information about the top match.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identification_history table is where the two meet. Every time a user uploads a recording and gets a result, a new row is written here with their user ID, the matched species ID, the confidence score from the model, and a path to the uploaded file. Both user_id and species_id are foreign keys, and both use ON DELETE CASCADE — meaning if a user account is ever deleted, their history is automatically cleaned up too.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three tables form a clean relational structure. identification_history sits in the middle, joining users to species.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Flask side, all database access is centralized in the database/</a:t>
            </a:r>
            <a:r>
              <a:rPr lang="en-US" u="sng">
                <a:solidFill>
                  <a:schemeClr val="hlink"/>
                </a:solidFill>
                <a:hlinkClick r:id="rId2"/>
              </a:rPr>
              <a:t>db.py</a:t>
            </a:r>
            <a:r>
              <a:rPr lang="en-US"/>
              <a:t> folder. Connection settings come from environment variables so credentials are never hardcoded. The database gets touched at three points in the app: during login and registration, when an upload is analyzed and the result is logged, and when a user visits their history page to see past identifications."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2" name="Google Shape;112;g3d68236bfc0_3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68236bfc0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d68236bfc0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a:t>
            </a:r>
            <a:endParaRPr/>
          </a:p>
          <a:p>
            <a:pPr indent="0" lvl="0" marL="0" rtl="0" algn="l">
              <a:spcBef>
                <a:spcPts val="0"/>
              </a:spcBef>
              <a:spcAft>
                <a:spcPts val="0"/>
              </a:spcAft>
              <a:buNone/>
            </a:pPr>
            <a:r>
              <a:rPr lang="en-US"/>
              <a:t>"My module sits at the start of the pipeline — before anything can be identified, the raw audio needs to be transformed into a format the model can actually work with. That's what the spectrogram generator does.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one is loading the audio. We use librosa.load with sr=None, which tells librosa to preserve the file's native sample rate rather than resampling it. This matters because resampling can subtly alter the frequency content of the recording, and we want the model working with the most accurate representation of the sound as possible. The output is a numpy array of audio samples.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two is generating the mel-spectrogram. This is the core transformation. We call librosa.feature.melspectrogram with n_mels=128 and fmax=8000. The 128 mel frequency bins were standardized across the entire team so that every spectrogram — whether it's a reference recording or a live upload — has the same shape going into the model. The output is a 2D array: frequency bins on one axis, time frames on the other. Essentially, we've turned a sound into an image.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three is converting to log scale using librosa.power_to_db. Raw power values have a huge dynamic range that makes patterns hard to detect. Converting to decibels compresses that range and makes the spectrogram much more image-like and consistent across recordings with different volumes.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four is normalization, which was added by Jake in dataset_builder.py. We scale all values to a 0-to-1 range using min-max normalization before saving as .npy files. This ensures the neural network isn't thrown off by absolute amplitude differences between recordings.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 are actually two outputs from this module — a numpy array that feeds into the classifier, and a PNG image rendered with matplotlib using a magma colormap, which is what gets displayed to the user on the results page."</a:t>
            </a:r>
            <a:endParaRPr/>
          </a:p>
        </p:txBody>
      </p:sp>
      <p:sp>
        <p:nvSpPr>
          <p:cNvPr id="137" name="Google Shape;137;g3d68236bfc0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68236bfc0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d68236bfc0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Peyton</a:t>
            </a:r>
            <a:endParaRPr/>
          </a:p>
        </p:txBody>
      </p:sp>
      <p:sp>
        <p:nvSpPr>
          <p:cNvPr id="165" name="Google Shape;165;g3d68236bfc0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68236bfc0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d68236bfc0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Jake</a:t>
            </a:r>
            <a:endParaRPr/>
          </a:p>
          <a:p>
            <a:pPr indent="0" lvl="0" marL="0" rtl="0" algn="l">
              <a:spcBef>
                <a:spcPts val="0"/>
              </a:spcBef>
              <a:spcAft>
                <a:spcPts val="0"/>
              </a:spcAft>
              <a:buNone/>
            </a:pPr>
            <a:r>
              <a:rPr lang="en-US"/>
              <a:t>“Once we committed to training a neural network, producing a model with accurate results required a bit of knob-turning through iterative testing. After a few trials, the model that performed best was tuned to these values. The input layer included 4096 features, which is the total matrix of 128 mel bins (a standard representation for audible harmonic frequencies) against 32 time frames (which fit most reference spectrogram durations). </a:t>
            </a:r>
            <a:endParaRPr/>
          </a:p>
          <a:p>
            <a:pPr indent="0" lvl="0" marL="0" rtl="0" algn="l">
              <a:spcBef>
                <a:spcPts val="0"/>
              </a:spcBef>
              <a:spcAft>
                <a:spcPts val="0"/>
              </a:spcAft>
              <a:buNone/>
            </a:pPr>
            <a:r>
              <a:rPr lang="en-US"/>
              <a:t>A hidden layer with 18 nodes provided enough room for training and handling larger file sizes, while also not risking overfitting and collapse into dominant classes. </a:t>
            </a:r>
            <a:endParaRPr/>
          </a:p>
          <a:p>
            <a:pPr indent="0" lvl="0" marL="0" rtl="0" algn="l">
              <a:spcBef>
                <a:spcPts val="0"/>
              </a:spcBef>
              <a:spcAft>
                <a:spcPts val="0"/>
              </a:spcAft>
              <a:buNone/>
            </a:pPr>
            <a:r>
              <a:rPr lang="en-US"/>
              <a:t>The output layer had 6 nodes, representing our five bird classes and the additional background noise class.</a:t>
            </a:r>
            <a:endParaRPr/>
          </a:p>
          <a:p>
            <a:pPr indent="0" lvl="0" marL="0" rtl="0" algn="l">
              <a:spcBef>
                <a:spcPts val="0"/>
              </a:spcBef>
              <a:spcAft>
                <a:spcPts val="0"/>
              </a:spcAft>
              <a:buNone/>
            </a:pPr>
            <a:r>
              <a:rPr lang="en-US"/>
              <a:t>Weights were updated via a “foreward and back” loop over each feature. The feedforward updated </a:t>
            </a:r>
            <a:r>
              <a:rPr lang="en-US"/>
              <a:t>weights with sigmoid activation (which also normalized them into a 0-1 range). Next, the array was updated back to front with sigmoid derivative deltas (the “back” in backpropagation) before finally being updated with the dot products of the sigmoid activation times the delta changes, times the learning rate, which is set to the standard 0.01 (the alpha)</a:t>
            </a:r>
            <a:endParaRPr/>
          </a:p>
          <a:p>
            <a:pPr indent="0" lvl="0" marL="0" rtl="0" algn="l">
              <a:spcBef>
                <a:spcPts val="0"/>
              </a:spcBef>
              <a:spcAft>
                <a:spcPts val="0"/>
              </a:spcAft>
              <a:buNone/>
            </a:pPr>
            <a:r>
              <a:rPr lang="en-US"/>
              <a:t>To ensure that weight updates for each class remained consistent during training, the labels for each class were one-hot encoded. Once all epochs of this process were run, the result was saved as a full array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pretrained model is then called once during the “analyze” phase of our user flow. This phase takes the user audio file and runs it once through processing, resulting in a numpy array that the model can compare against. The function nn.predict commits the newly generated aray to one forward pass through the model. After this single pass, the final 6 nodes receive weight signals, and they are returned in order of strength, which can be understood as a “confidence level”</a:t>
            </a:r>
            <a:endParaRPr/>
          </a:p>
        </p:txBody>
      </p:sp>
      <p:sp>
        <p:nvSpPr>
          <p:cNvPr id="202" name="Google Shape;202;g3d68236bfc0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edd073bb7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dedd073bb7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Jake</a:t>
            </a:r>
            <a:endParaRPr/>
          </a:p>
        </p:txBody>
      </p:sp>
      <p:sp>
        <p:nvSpPr>
          <p:cNvPr id="215" name="Google Shape;215;g3dedd073bb7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d68236bfc0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3d68236bfc0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Stephen</a:t>
            </a:r>
            <a:endParaRPr/>
          </a:p>
          <a:p>
            <a:pPr indent="0" lvl="0" marL="0" rtl="0" algn="l">
              <a:spcBef>
                <a:spcPts val="0"/>
              </a:spcBef>
              <a:spcAft>
                <a:spcPts val="0"/>
              </a:spcAft>
              <a:buNone/>
            </a:pPr>
            <a:r>
              <a:t/>
            </a:r>
            <a:endParaRPr/>
          </a:p>
          <a:p>
            <a:pPr indent="0" lvl="0" marL="457200" rtl="0" algn="l">
              <a:spcBef>
                <a:spcPts val="0"/>
              </a:spcBef>
              <a:spcAft>
                <a:spcPts val="0"/>
              </a:spcAft>
              <a:buNone/>
            </a:pPr>
            <a:r>
              <a:rPr lang="en-US">
                <a:solidFill>
                  <a:srgbClr val="333333"/>
                </a:solidFill>
              </a:rPr>
              <a:t>User registers or logs in &gt; session starts</a:t>
            </a:r>
            <a:endParaRPr>
              <a:solidFill>
                <a:srgbClr val="333333"/>
              </a:solidFill>
            </a:endParaRPr>
          </a:p>
          <a:p>
            <a:pPr indent="0" lvl="0" marL="457200" rtl="0" algn="l">
              <a:spcBef>
                <a:spcPts val="0"/>
              </a:spcBef>
              <a:spcAft>
                <a:spcPts val="0"/>
              </a:spcAft>
              <a:buNone/>
            </a:pPr>
            <a:r>
              <a:rPr lang="en-US">
                <a:solidFill>
                  <a:srgbClr val="333333"/>
                </a:solidFill>
              </a:rPr>
              <a:t>User uploads an audio file &gt; /upload</a:t>
            </a:r>
            <a:endParaRPr>
              <a:solidFill>
                <a:srgbClr val="333333"/>
              </a:solidFill>
            </a:endParaRPr>
          </a:p>
          <a:p>
            <a:pPr indent="0" lvl="0" marL="457200" rtl="0" algn="l">
              <a:spcBef>
                <a:spcPts val="0"/>
              </a:spcBef>
              <a:spcAft>
                <a:spcPts val="0"/>
              </a:spcAft>
              <a:buNone/>
            </a:pPr>
            <a:r>
              <a:rPr lang="en-US">
                <a:solidFill>
                  <a:srgbClr val="333333"/>
                </a:solidFill>
              </a:rPr>
              <a:t>App analyzes the file &gt; /analyze</a:t>
            </a:r>
            <a:endParaRPr>
              <a:solidFill>
                <a:srgbClr val="333333"/>
              </a:solidFill>
            </a:endParaRPr>
          </a:p>
          <a:p>
            <a:pPr indent="0" lvl="0" marL="457200" rtl="0" algn="l">
              <a:spcBef>
                <a:spcPts val="0"/>
              </a:spcBef>
              <a:spcAft>
                <a:spcPts val="0"/>
              </a:spcAft>
              <a:buNone/>
            </a:pPr>
            <a:r>
              <a:rPr lang="en-US">
                <a:solidFill>
                  <a:srgbClr val="333333"/>
                </a:solidFill>
              </a:rPr>
              <a:t>User sees results &gt; spectrogram + ranked matches</a:t>
            </a:r>
            <a:endParaRPr>
              <a:solidFill>
                <a:srgbClr val="333333"/>
              </a:solidFill>
            </a:endParaRPr>
          </a:p>
          <a:p>
            <a:pPr indent="0" lvl="0" marL="457200" rtl="0" algn="l">
              <a:spcBef>
                <a:spcPts val="0"/>
              </a:spcBef>
              <a:spcAft>
                <a:spcPts val="0"/>
              </a:spcAft>
              <a:buNone/>
            </a:pPr>
            <a:r>
              <a:rPr lang="en-US">
                <a:solidFill>
                  <a:srgbClr val="333333"/>
                </a:solidFill>
              </a:rPr>
              <a:t>User explores bird details &gt; /bird/&lt;name&gt;</a:t>
            </a:r>
            <a:endParaRPr>
              <a:solidFill>
                <a:srgbClr val="333333"/>
              </a:solidFill>
            </a:endParaRPr>
          </a:p>
          <a:p>
            <a:pPr indent="0" lvl="0" marL="457200" rtl="0" algn="l">
              <a:spcBef>
                <a:spcPts val="0"/>
              </a:spcBef>
              <a:spcAft>
                <a:spcPts val="0"/>
              </a:spcAft>
              <a:buNone/>
            </a:pPr>
            <a:r>
              <a:rPr lang="en-US">
                <a:solidFill>
                  <a:srgbClr val="333333"/>
                </a:solidFill>
              </a:rPr>
              <a:t>User reviews past identifications &gt; /library</a:t>
            </a:r>
            <a:endParaRPr>
              <a:solidFill>
                <a:srgbClr val="333333"/>
              </a:solidFill>
            </a:endParaRPr>
          </a:p>
          <a:p>
            <a:pPr indent="0" lvl="0" marL="457200" rtl="0" algn="l">
              <a:spcBef>
                <a:spcPts val="0"/>
              </a:spcBef>
              <a:spcAft>
                <a:spcPts val="0"/>
              </a:spcAft>
              <a:buNone/>
            </a:pPr>
            <a:r>
              <a:t/>
            </a:r>
            <a:endParaRPr>
              <a:solidFill>
                <a:srgbClr val="333333"/>
              </a:solidFill>
            </a:endParaRPr>
          </a:p>
          <a:p>
            <a:pPr indent="0" lvl="0" marL="0" rtl="0" algn="l">
              <a:spcBef>
                <a:spcPts val="0"/>
              </a:spcBef>
              <a:spcAft>
                <a:spcPts val="0"/>
              </a:spcAft>
              <a:buNone/>
            </a:pPr>
            <a:r>
              <a:t/>
            </a:r>
            <a:endParaRPr/>
          </a:p>
          <a:p>
            <a:pPr indent="-304800" lvl="0" marL="457200" rtl="0" algn="l">
              <a:spcBef>
                <a:spcPts val="0"/>
              </a:spcBef>
              <a:spcAft>
                <a:spcPts val="0"/>
              </a:spcAft>
              <a:buClr>
                <a:srgbClr val="333333"/>
              </a:buClr>
              <a:buSzPts val="1200"/>
              <a:buFont typeface="Calibri"/>
              <a:buChar char="•"/>
            </a:pPr>
            <a:r>
              <a:rPr lang="en-US">
                <a:solidFill>
                  <a:srgbClr val="333333"/>
                </a:solidFill>
              </a:rPr>
              <a:t>User uploads audio on /upload page</a:t>
            </a:r>
            <a:endParaRPr/>
          </a:p>
          <a:p>
            <a:pPr indent="-304800" lvl="0" marL="457200" rtl="0" algn="l">
              <a:spcBef>
                <a:spcPts val="0"/>
              </a:spcBef>
              <a:spcAft>
                <a:spcPts val="0"/>
              </a:spcAft>
              <a:buClr>
                <a:srgbClr val="333333"/>
              </a:buClr>
              <a:buSzPts val="1200"/>
              <a:buFont typeface="Calibri"/>
              <a:buChar char="•"/>
            </a:pPr>
            <a:r>
              <a:rPr lang="en-US">
                <a:solidFill>
                  <a:srgbClr val="333333"/>
                </a:solidFill>
              </a:rPr>
              <a:t>Flask saves file to static/uploads/</a:t>
            </a:r>
            <a:endParaRPr/>
          </a:p>
          <a:p>
            <a:pPr indent="-304800" lvl="0" marL="457200" rtl="0" algn="l">
              <a:spcBef>
                <a:spcPts val="0"/>
              </a:spcBef>
              <a:spcAft>
                <a:spcPts val="0"/>
              </a:spcAft>
              <a:buClr>
                <a:srgbClr val="333333"/>
              </a:buClr>
              <a:buSzPts val="1200"/>
              <a:buFont typeface="Calibri"/>
              <a:buChar char="•"/>
            </a:pPr>
            <a:r>
              <a:rPr lang="en-US">
                <a:solidFill>
                  <a:srgbClr val="333333"/>
                </a:solidFill>
              </a:rPr>
              <a:t>Confidence scores displayed instead of raw correlation values</a:t>
            </a:r>
            <a:endParaRPr/>
          </a:p>
          <a:p>
            <a:pPr indent="-304800" lvl="0" marL="457200" rtl="0" algn="l">
              <a:spcBef>
                <a:spcPts val="0"/>
              </a:spcBef>
              <a:spcAft>
                <a:spcPts val="0"/>
              </a:spcAft>
              <a:buClr>
                <a:srgbClr val="333333"/>
              </a:buClr>
              <a:buSzPts val="1200"/>
              <a:buFont typeface="Calibri"/>
              <a:buChar char="•"/>
            </a:pPr>
            <a:r>
              <a:rPr lang="en-US">
                <a:solidFill>
                  <a:srgbClr val="333333"/>
                </a:solidFill>
              </a:rPr>
              <a:t>Top result logged to Postgres identification_history</a:t>
            </a:r>
            <a:endParaRPr/>
          </a:p>
          <a:p>
            <a:pPr indent="-304800" lvl="0" marL="457200" rtl="0" algn="l">
              <a:spcBef>
                <a:spcPts val="0"/>
              </a:spcBef>
              <a:spcAft>
                <a:spcPts val="0"/>
              </a:spcAft>
              <a:buClr>
                <a:srgbClr val="333333"/>
              </a:buClr>
              <a:buSzPts val="1200"/>
              <a:buFont typeface="Calibri"/>
              <a:buChar char="•"/>
            </a:pPr>
            <a:r>
              <a:rPr lang="en-US">
                <a:solidFill>
                  <a:srgbClr val="333333"/>
                </a:solidFill>
              </a:rPr>
              <a:t>User library shows past identifications with confidence scores</a:t>
            </a:r>
            <a:endParaRPr/>
          </a:p>
        </p:txBody>
      </p:sp>
      <p:sp>
        <p:nvSpPr>
          <p:cNvPr id="228" name="Google Shape;228;g3d68236bfc0_0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a:t>
            </a:r>
            <a:endParaRPr/>
          </a:p>
          <a:p>
            <a:pPr indent="0" lvl="0" marL="0" rtl="0" algn="l">
              <a:spcBef>
                <a:spcPts val="0"/>
              </a:spcBef>
              <a:spcAft>
                <a:spcPts val="0"/>
              </a:spcAft>
              <a:buNone/>
            </a:pPr>
            <a:r>
              <a:rPr lang="en-US"/>
              <a:t>“There were</a:t>
            </a:r>
            <a:r>
              <a:rPr lang="en-US"/>
              <a:t> four main challenges that we ran into during this project.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Module Integration was probably our biggest technical hurdle. We had four independently built modules — the database, spectrogram generator, similarity model, and UI — each developed in different file structures with different assumptions about how data would be passed around. Getting them to talk to each other cleanly required us to establish clear interface contracts and make sure every teammate knew exactly what inputs to expect and what outputs to produce.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Algorithm Accuracy was an ongoing challenge throughout the project. We started with a cross-correlation approach to compare spectrograms, but accuracy wasn't where we needed it. We improved things significantly by adding background noise samples to the training data and increasing our reference recordings per bird. The model still performs better on bird calls that were included in training, so there's room to grow there.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Team Communication was a softer challenge but a real one. Not everyone had visibility into the full pipeline at all times, which occasionally led to decisions being made in isolation rather than collaboratively. It reinforced how important it is to keep the whole team aligned — not just on what you're building, but on how it connects to everyone else's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finally, Environment Setup caused more friction than expected. Python version differences, missing dependencies like librosa and matplotlib, and PostgreSQL requiring separate installation from the Flask app meant that getting a consistent dev environment across all four machines took real effort and wasn't always smooth.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These challenges pushed us to communicate more intentionally and write more modular, well-documented code."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68" name="Google Shape;2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Stephen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r>
              <a:rPr lang="en-US" sz="1300">
                <a:solidFill>
                  <a:srgbClr val="333333"/>
                </a:solidFill>
              </a:rPr>
              <a:t>The clarity of distinction between class types is inconsistent. Some correct IDs are low-confidence</a:t>
            </a:r>
            <a:endParaRPr/>
          </a:p>
        </p:txBody>
      </p:sp>
      <p:sp>
        <p:nvSpPr>
          <p:cNvPr id="291" name="Google Shape;29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Jake</a:t>
            </a:r>
            <a:endParaRPr/>
          </a:p>
        </p:txBody>
      </p:sp>
      <p:sp>
        <p:nvSpPr>
          <p:cNvPr id="310" name="Google Shape;31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xeno-canto.or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1A"/>
        </a:solidFill>
      </p:bgPr>
    </p:bg>
    <p:spTree>
      <p:nvGrpSpPr>
        <p:cNvPr id="15" name="Shape 15"/>
        <p:cNvGrpSpPr/>
        <p:nvPr/>
      </p:nvGrpSpPr>
      <p:grpSpPr>
        <a:xfrm>
          <a:off x="0" y="0"/>
          <a:ext cx="0" cy="0"/>
          <a:chOff x="0" y="0"/>
          <a:chExt cx="0" cy="0"/>
        </a:xfrm>
      </p:grpSpPr>
      <p:sp>
        <p:nvSpPr>
          <p:cNvPr id="16" name="Google Shape;16;p1"/>
          <p:cNvSpPr/>
          <p:nvPr/>
        </p:nvSpPr>
        <p:spPr>
          <a:xfrm>
            <a:off x="0" y="0"/>
            <a:ext cx="274320" cy="5143500"/>
          </a:xfrm>
          <a:prstGeom prst="rect">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48640" y="1188720"/>
            <a:ext cx="82296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Georgia"/>
              <a:buNone/>
            </a:pPr>
            <a:r>
              <a:rPr b="1" i="0" lang="en-US" sz="6400" u="none" cap="none" strike="noStrike">
                <a:solidFill>
                  <a:srgbClr val="FFFFFF"/>
                </a:solidFill>
                <a:latin typeface="Georgia"/>
                <a:ea typeface="Georgia"/>
                <a:cs typeface="Georgia"/>
                <a:sym typeface="Georgia"/>
              </a:rPr>
              <a:t>CAWLER ID</a:t>
            </a:r>
            <a:endParaRPr b="0" i="0" sz="6400" u="none" cap="none" strike="noStrike">
              <a:solidFill>
                <a:schemeClr val="dk1"/>
              </a:solidFill>
              <a:latin typeface="Calibri"/>
              <a:ea typeface="Calibri"/>
              <a:cs typeface="Calibri"/>
              <a:sym typeface="Calibri"/>
            </a:endParaRPr>
          </a:p>
        </p:txBody>
      </p:sp>
      <p:sp>
        <p:nvSpPr>
          <p:cNvPr id="18" name="Google Shape;18;p1"/>
          <p:cNvSpPr/>
          <p:nvPr/>
        </p:nvSpPr>
        <p:spPr>
          <a:xfrm>
            <a:off x="548640" y="246888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2000"/>
              <a:buFont typeface="Calibri"/>
              <a:buNone/>
            </a:pPr>
            <a:r>
              <a:rPr b="0" i="1" lang="en-US" sz="2000" u="none" cap="none" strike="noStrike">
                <a:solidFill>
                  <a:srgbClr val="97BC62"/>
                </a:solidFill>
                <a:latin typeface="Calibri"/>
                <a:ea typeface="Calibri"/>
                <a:cs typeface="Calibri"/>
                <a:sym typeface="Calibri"/>
              </a:rPr>
              <a:t>Bird Call Identification Pipeline</a:t>
            </a:r>
            <a:endParaRPr b="0" i="0" sz="2000" u="none" cap="none" strike="noStrike">
              <a:solidFill>
                <a:schemeClr val="dk1"/>
              </a:solidFill>
              <a:latin typeface="Calibri"/>
              <a:ea typeface="Calibri"/>
              <a:cs typeface="Calibri"/>
              <a:sym typeface="Calibri"/>
            </a:endParaRPr>
          </a:p>
        </p:txBody>
      </p:sp>
      <p:sp>
        <p:nvSpPr>
          <p:cNvPr id="19" name="Google Shape;19;p1"/>
          <p:cNvSpPr/>
          <p:nvPr/>
        </p:nvSpPr>
        <p:spPr>
          <a:xfrm>
            <a:off x="548640" y="411480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FA8"/>
              </a:buClr>
              <a:buSzPts val="1300"/>
              <a:buFont typeface="Calibri"/>
              <a:buNone/>
            </a:pPr>
            <a:r>
              <a:rPr b="0" i="0" lang="en-US" sz="1300" u="none" cap="none" strike="noStrike">
                <a:solidFill>
                  <a:srgbClr val="A8BFA8"/>
                </a:solidFill>
                <a:latin typeface="Calibri"/>
                <a:ea typeface="Calibri"/>
                <a:cs typeface="Calibri"/>
                <a:sym typeface="Calibri"/>
              </a:rPr>
              <a:t>Team Cawl  ·  Team #2  ·  CSPB 3308 Spring 2026</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548640" y="2926080"/>
            <a:ext cx="8229600" cy="10058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5F5F0"/>
              </a:buClr>
              <a:buSzPts val="1400"/>
              <a:buFont typeface="Calibri"/>
              <a:buNone/>
            </a:pPr>
            <a:r>
              <a:rPr lang="en-US">
                <a:solidFill>
                  <a:srgbClr val="F5F5F0"/>
                </a:solidFill>
                <a:latin typeface="Calibri"/>
                <a:ea typeface="Calibri"/>
                <a:cs typeface="Calibri"/>
                <a:sym typeface="Calibri"/>
              </a:rPr>
              <a:t>Bri Martinez</a:t>
            </a:r>
            <a:endParaRPr>
              <a:solidFill>
                <a:srgbClr val="F5F5F0"/>
              </a:solidFill>
              <a:latin typeface="Calibri"/>
              <a:ea typeface="Calibri"/>
              <a:cs typeface="Calibri"/>
              <a:sym typeface="Calibri"/>
            </a:endParaRPr>
          </a:p>
          <a:p>
            <a:pPr indent="0" lvl="0" marL="0" rtl="0" algn="l">
              <a:spcBef>
                <a:spcPts val="0"/>
              </a:spcBef>
              <a:spcAft>
                <a:spcPts val="0"/>
              </a:spcAft>
              <a:buClr>
                <a:srgbClr val="F5F5F0"/>
              </a:buClr>
              <a:buSzPts val="1400"/>
              <a:buFont typeface="Calibri"/>
              <a:buNone/>
            </a:pPr>
            <a:r>
              <a:rPr lang="en-US">
                <a:solidFill>
                  <a:srgbClr val="F5F5F0"/>
                </a:solidFill>
                <a:latin typeface="Calibri"/>
                <a:ea typeface="Calibri"/>
                <a:cs typeface="Calibri"/>
                <a:sym typeface="Calibri"/>
              </a:rPr>
              <a:t>Jake Mooradian</a:t>
            </a:r>
            <a:endParaRPr>
              <a:solidFill>
                <a:srgbClr val="F5F5F0"/>
              </a:solidFill>
              <a:latin typeface="Calibri"/>
              <a:ea typeface="Calibri"/>
              <a:cs typeface="Calibri"/>
              <a:sym typeface="Calibri"/>
            </a:endParaRPr>
          </a:p>
          <a:p>
            <a:pPr indent="0" lvl="0" marL="0" marR="0" rtl="0" algn="l">
              <a:spcBef>
                <a:spcPts val="0"/>
              </a:spcBef>
              <a:spcAft>
                <a:spcPts val="0"/>
              </a:spcAft>
              <a:buClr>
                <a:srgbClr val="F5F5F0"/>
              </a:buClr>
              <a:buSzPts val="1400"/>
              <a:buFont typeface="Calibri"/>
              <a:buNone/>
            </a:pPr>
            <a:r>
              <a:rPr b="0" i="0" lang="en-US" sz="1400" u="none" cap="none" strike="noStrike">
                <a:solidFill>
                  <a:srgbClr val="F5F5F0"/>
                </a:solidFill>
                <a:latin typeface="Calibri"/>
                <a:ea typeface="Calibri"/>
                <a:cs typeface="Calibri"/>
                <a:sym typeface="Calibri"/>
              </a:rPr>
              <a:t>Peyton Cunningham</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F5F0"/>
              </a:buClr>
              <a:buSzPts val="1400"/>
              <a:buFont typeface="Calibri"/>
              <a:buNone/>
            </a:pPr>
            <a:r>
              <a:rPr b="0" i="0" lang="en-US" sz="1400" u="none" cap="none" strike="noStrike">
                <a:solidFill>
                  <a:srgbClr val="F5F5F0"/>
                </a:solidFill>
                <a:latin typeface="Calibri"/>
                <a:ea typeface="Calibri"/>
                <a:cs typeface="Calibri"/>
                <a:sym typeface="Calibri"/>
              </a:rPr>
              <a:t>Stephen Enriquez</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F5F0"/>
              </a:buClr>
              <a:buSzPts val="1400"/>
              <a:buFont typeface="Calibri"/>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0"/>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68580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PROJECT OVERVIEW</a:t>
            </a:r>
            <a:endParaRPr b="0" i="0" sz="2200" u="none" cap="none" strike="noStrike">
              <a:solidFill>
                <a:schemeClr val="dk1"/>
              </a:solidFill>
              <a:latin typeface="Calibri"/>
              <a:ea typeface="Calibri"/>
              <a:cs typeface="Calibri"/>
              <a:sym typeface="Calibri"/>
            </a:endParaRPr>
          </a:p>
        </p:txBody>
      </p:sp>
      <p:sp>
        <p:nvSpPr>
          <p:cNvPr id="28" name="Google Shape;28;p2"/>
          <p:cNvSpPr/>
          <p:nvPr/>
        </p:nvSpPr>
        <p:spPr>
          <a:xfrm>
            <a:off x="365760" y="914400"/>
            <a:ext cx="3840480" cy="3474720"/>
          </a:xfrm>
          <a:prstGeom prst="rect">
            <a:avLst/>
          </a:prstGeom>
          <a:solidFill>
            <a:srgbClr val="FFFFFF"/>
          </a:solidFill>
          <a:ln cap="flat" cmpd="sng" w="12700">
            <a:solidFill>
              <a:srgbClr val="D0DCC0"/>
            </a:solidFill>
            <a:prstDash val="solid"/>
            <a:round/>
            <a:headEnd len="sm" w="sm" type="none"/>
            <a:tailEnd len="sm" w="sm" type="none"/>
          </a:ln>
          <a:effectLst>
            <a:outerShdw blurRad="635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548640" y="105156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600"/>
              <a:buFont typeface="Georgia"/>
              <a:buNone/>
            </a:pPr>
            <a:r>
              <a:rPr b="1" i="0" lang="en-US" sz="1600" u="none" cap="none" strike="noStrike">
                <a:solidFill>
                  <a:srgbClr val="2C5F2D"/>
                </a:solidFill>
                <a:latin typeface="Georgia"/>
                <a:ea typeface="Georgia"/>
                <a:cs typeface="Georgia"/>
                <a:sym typeface="Georgia"/>
              </a:rPr>
              <a:t>What It Does</a:t>
            </a:r>
            <a:endParaRPr b="0" i="0" sz="1600" u="none" cap="none" strike="noStrike">
              <a:solidFill>
                <a:schemeClr val="dk1"/>
              </a:solidFill>
              <a:latin typeface="Calibri"/>
              <a:ea typeface="Calibri"/>
              <a:cs typeface="Calibri"/>
              <a:sym typeface="Calibri"/>
            </a:endParaRPr>
          </a:p>
        </p:txBody>
      </p:sp>
      <p:sp>
        <p:nvSpPr>
          <p:cNvPr id="30" name="Google Shape;30;p2"/>
          <p:cNvSpPr/>
          <p:nvPr/>
        </p:nvSpPr>
        <p:spPr>
          <a:xfrm>
            <a:off x="548640" y="1508760"/>
            <a:ext cx="3474720" cy="274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333"/>
              </a:buClr>
              <a:buSzPts val="1300"/>
              <a:buFont typeface="Calibri"/>
              <a:buNone/>
            </a:pPr>
            <a:r>
              <a:rPr b="0" i="0" lang="en-US" sz="1300" u="none" cap="none" strike="noStrike">
                <a:solidFill>
                  <a:srgbClr val="333333"/>
                </a:solidFill>
                <a:latin typeface="Calibri"/>
                <a:ea typeface="Calibri"/>
                <a:cs typeface="Calibri"/>
                <a:sym typeface="Calibri"/>
              </a:rPr>
              <a:t>Cawler ID is a web app that identifies bird species from audio recordings uploaded by the user.</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300"/>
              <a:buFont typeface="Calibri"/>
              <a:buNone/>
            </a:pPr>
            <a:r>
              <a:rPr b="0" i="0" lang="en-US" sz="1300" u="none" cap="none" strike="noStrike">
                <a:solidFill>
                  <a:srgbClr val="333333"/>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300"/>
              <a:buFont typeface="Calibri"/>
              <a:buNone/>
            </a:pPr>
            <a:r>
              <a:rPr b="0" i="0" lang="en-US" sz="1300" u="none" cap="none" strike="noStrike">
                <a:solidFill>
                  <a:srgbClr val="333333"/>
                </a:solidFill>
                <a:latin typeface="Calibri"/>
                <a:ea typeface="Calibri"/>
                <a:cs typeface="Calibri"/>
                <a:sym typeface="Calibri"/>
              </a:rPr>
              <a:t>The user uploads an MP3 or WAV file. The pipeline converts it to a mel-spectrogram, scores it against reference recordings, and returns a ranked list of matching species.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300"/>
              <a:buFont typeface="Calibri"/>
              <a:buNone/>
            </a:pPr>
            <a:r>
              <a:rPr b="0" i="0" lang="en-US" sz="1300" u="none" cap="none" strike="noStrike">
                <a:solidFill>
                  <a:srgbClr val="333333"/>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300"/>
              <a:buFont typeface="Calibri"/>
              <a:buNone/>
            </a:pPr>
            <a:r>
              <a:rPr b="0" i="0" lang="en-US" sz="1300" u="none" cap="none" strike="noStrike">
                <a:solidFill>
                  <a:srgbClr val="333333"/>
                </a:solidFill>
                <a:latin typeface="Calibri"/>
                <a:ea typeface="Calibri"/>
                <a:cs typeface="Calibri"/>
                <a:sym typeface="Calibri"/>
              </a:rPr>
              <a:t>Built as a technical proving ground for signal processing, full-stack engineering, and Scrum collaboration.</a:t>
            </a:r>
            <a:endParaRPr b="0" i="0" sz="1300" u="none" cap="none" strike="noStrike">
              <a:solidFill>
                <a:schemeClr val="dk1"/>
              </a:solidFill>
              <a:latin typeface="Calibri"/>
              <a:ea typeface="Calibri"/>
              <a:cs typeface="Calibri"/>
              <a:sym typeface="Calibri"/>
            </a:endParaRPr>
          </a:p>
        </p:txBody>
      </p:sp>
      <p:sp>
        <p:nvSpPr>
          <p:cNvPr id="31" name="Google Shape;31;p2"/>
          <p:cNvSpPr/>
          <p:nvPr/>
        </p:nvSpPr>
        <p:spPr>
          <a:xfrm>
            <a:off x="4572000" y="914400"/>
            <a:ext cx="4206300" cy="3474600"/>
          </a:xfrm>
          <a:prstGeom prst="rect">
            <a:avLst/>
          </a:prstGeom>
          <a:solidFill>
            <a:srgbClr val="FFFFFF"/>
          </a:solidFill>
          <a:ln cap="flat" cmpd="sng" w="12700">
            <a:solidFill>
              <a:srgbClr val="D0DCC0"/>
            </a:solidFill>
            <a:prstDash val="solid"/>
            <a:round/>
            <a:headEnd len="sm" w="sm" type="none"/>
            <a:tailEnd len="sm" w="sm" type="none"/>
          </a:ln>
          <a:effectLst>
            <a:outerShdw blurRad="635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4754880" y="105156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600"/>
              <a:buFont typeface="Georgia"/>
              <a:buNone/>
            </a:pPr>
            <a:r>
              <a:rPr b="1" i="0" lang="en-US" sz="1600" u="none" cap="none" strike="noStrike">
                <a:solidFill>
                  <a:srgbClr val="2C5F2D"/>
                </a:solidFill>
                <a:latin typeface="Georgia"/>
                <a:ea typeface="Georgia"/>
                <a:cs typeface="Georgia"/>
                <a:sym typeface="Georgia"/>
              </a:rPr>
              <a:t>Pipeline</a:t>
            </a:r>
            <a:endParaRPr b="0" i="0" sz="1600" u="none" cap="none" strike="noStrike">
              <a:solidFill>
                <a:schemeClr val="dk1"/>
              </a:solidFill>
              <a:latin typeface="Calibri"/>
              <a:ea typeface="Calibri"/>
              <a:cs typeface="Calibri"/>
              <a:sym typeface="Calibri"/>
            </a:endParaRPr>
          </a:p>
        </p:txBody>
      </p:sp>
      <p:sp>
        <p:nvSpPr>
          <p:cNvPr id="33" name="Google Shape;33;p2"/>
          <p:cNvSpPr/>
          <p:nvPr/>
        </p:nvSpPr>
        <p:spPr>
          <a:xfrm>
            <a:off x="4754855" y="1417330"/>
            <a:ext cx="3749100" cy="594300"/>
          </a:xfrm>
          <a:prstGeom prst="rect">
            <a:avLst/>
          </a:prstGeom>
          <a:solidFill>
            <a:srgbClr val="EEF4E6"/>
          </a:solidFill>
          <a:ln cap="flat" cmpd="sng" w="12700">
            <a:solidFill>
              <a:srgbClr val="C4D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4846295" y="1453906"/>
            <a:ext cx="1280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1  Dataset</a:t>
            </a:r>
            <a:endParaRPr b="0" i="0" sz="1100" u="none" cap="none" strike="noStrike">
              <a:solidFill>
                <a:schemeClr val="dk1"/>
              </a:solidFill>
              <a:latin typeface="Calibri"/>
              <a:ea typeface="Calibri"/>
              <a:cs typeface="Calibri"/>
              <a:sym typeface="Calibri"/>
            </a:endParaRPr>
          </a:p>
        </p:txBody>
      </p:sp>
      <p:sp>
        <p:nvSpPr>
          <p:cNvPr id="35" name="Google Shape;35;p2"/>
          <p:cNvSpPr/>
          <p:nvPr/>
        </p:nvSpPr>
        <p:spPr>
          <a:xfrm>
            <a:off x="4846295" y="1719082"/>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FA8"/>
              </a:buClr>
              <a:buSzPts val="1000"/>
              <a:buFont typeface="Calibri"/>
              <a:buNone/>
            </a:pPr>
            <a:r>
              <a:rPr b="0" i="1" lang="en-US" sz="1000" u="none" cap="none" strike="noStrike">
                <a:solidFill>
                  <a:srgbClr val="A8BFA8"/>
                </a:solidFill>
                <a:latin typeface="Calibri"/>
                <a:ea typeface="Calibri"/>
                <a:cs typeface="Calibri"/>
                <a:sym typeface="Calibri"/>
              </a:rPr>
              <a:t>Jake Mooradian</a:t>
            </a:r>
            <a:endParaRPr b="0" i="0" sz="1000" u="none" cap="none" strike="noStrike">
              <a:solidFill>
                <a:schemeClr val="dk1"/>
              </a:solidFill>
              <a:latin typeface="Calibri"/>
              <a:ea typeface="Calibri"/>
              <a:cs typeface="Calibri"/>
              <a:sym typeface="Calibri"/>
            </a:endParaRPr>
          </a:p>
        </p:txBody>
      </p:sp>
      <p:sp>
        <p:nvSpPr>
          <p:cNvPr id="36" name="Google Shape;36;p2"/>
          <p:cNvSpPr/>
          <p:nvPr/>
        </p:nvSpPr>
        <p:spPr>
          <a:xfrm>
            <a:off x="6263615" y="1490482"/>
            <a:ext cx="21030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lang="en-US" sz="1000">
                <a:solidFill>
                  <a:srgbClr val="444444"/>
                </a:solidFill>
                <a:latin typeface="Calibri"/>
                <a:ea typeface="Calibri"/>
                <a:cs typeface="Calibri"/>
                <a:sym typeface="Calibri"/>
              </a:rPr>
              <a:t>r</a:t>
            </a:r>
            <a:r>
              <a:rPr b="0" i="0" lang="en-US" sz="1000" u="none" cap="none" strike="noStrike">
                <a:solidFill>
                  <a:srgbClr val="444444"/>
                </a:solidFill>
                <a:latin typeface="Calibri"/>
                <a:ea typeface="Calibri"/>
                <a:cs typeface="Calibri"/>
                <a:sym typeface="Calibri"/>
              </a:rPr>
              <a:t>eference + test audio from Xeno-canto</a:t>
            </a:r>
            <a:endParaRPr b="0" i="0" sz="1000" u="none" cap="none" strike="noStrike">
              <a:solidFill>
                <a:schemeClr val="dk1"/>
              </a:solidFill>
              <a:latin typeface="Calibri"/>
              <a:ea typeface="Calibri"/>
              <a:cs typeface="Calibri"/>
              <a:sym typeface="Calibri"/>
            </a:endParaRPr>
          </a:p>
        </p:txBody>
      </p:sp>
      <p:sp>
        <p:nvSpPr>
          <p:cNvPr id="37" name="Google Shape;37;p2"/>
          <p:cNvSpPr/>
          <p:nvPr/>
        </p:nvSpPr>
        <p:spPr>
          <a:xfrm>
            <a:off x="4754880" y="2084763"/>
            <a:ext cx="3749100" cy="594300"/>
          </a:xfrm>
          <a:prstGeom prst="rect">
            <a:avLst/>
          </a:prstGeom>
          <a:solidFill>
            <a:srgbClr val="EEF4E6"/>
          </a:solidFill>
          <a:ln cap="flat" cmpd="sng" w="12700">
            <a:solidFill>
              <a:srgbClr val="C4D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846320" y="2121339"/>
            <a:ext cx="1280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2  Spectrogram</a:t>
            </a:r>
            <a:endParaRPr b="0" i="0" sz="1100" u="none" cap="none" strike="noStrike">
              <a:solidFill>
                <a:schemeClr val="dk1"/>
              </a:solidFill>
              <a:latin typeface="Calibri"/>
              <a:ea typeface="Calibri"/>
              <a:cs typeface="Calibri"/>
              <a:sym typeface="Calibri"/>
            </a:endParaRPr>
          </a:p>
        </p:txBody>
      </p:sp>
      <p:sp>
        <p:nvSpPr>
          <p:cNvPr id="39" name="Google Shape;39;p2"/>
          <p:cNvSpPr/>
          <p:nvPr/>
        </p:nvSpPr>
        <p:spPr>
          <a:xfrm>
            <a:off x="4846320" y="2386515"/>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FA8"/>
              </a:buClr>
              <a:buSzPts val="1000"/>
              <a:buFont typeface="Calibri"/>
              <a:buNone/>
            </a:pPr>
            <a:r>
              <a:rPr b="0" i="1" lang="en-US" sz="1000" u="none" cap="none" strike="noStrike">
                <a:solidFill>
                  <a:srgbClr val="A8BFA8"/>
                </a:solidFill>
                <a:latin typeface="Calibri"/>
                <a:ea typeface="Calibri"/>
                <a:cs typeface="Calibri"/>
                <a:sym typeface="Calibri"/>
              </a:rPr>
              <a:t>Bri Martinez</a:t>
            </a:r>
            <a:endParaRPr b="0" i="0" sz="1000" u="none" cap="none" strike="noStrike">
              <a:solidFill>
                <a:schemeClr val="dk1"/>
              </a:solidFill>
              <a:latin typeface="Calibri"/>
              <a:ea typeface="Calibri"/>
              <a:cs typeface="Calibri"/>
              <a:sym typeface="Calibri"/>
            </a:endParaRPr>
          </a:p>
        </p:txBody>
      </p:sp>
      <p:sp>
        <p:nvSpPr>
          <p:cNvPr id="40" name="Google Shape;40;p2"/>
          <p:cNvSpPr/>
          <p:nvPr/>
        </p:nvSpPr>
        <p:spPr>
          <a:xfrm>
            <a:off x="6263640" y="2157915"/>
            <a:ext cx="21030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librosa mel-spectrogram → 2D numpy array</a:t>
            </a:r>
            <a:endParaRPr b="0" i="0" sz="1000" u="none" cap="none" strike="noStrike">
              <a:solidFill>
                <a:schemeClr val="dk1"/>
              </a:solidFill>
              <a:latin typeface="Calibri"/>
              <a:ea typeface="Calibri"/>
              <a:cs typeface="Calibri"/>
              <a:sym typeface="Calibri"/>
            </a:endParaRPr>
          </a:p>
        </p:txBody>
      </p:sp>
      <p:sp>
        <p:nvSpPr>
          <p:cNvPr id="41" name="Google Shape;41;p2"/>
          <p:cNvSpPr/>
          <p:nvPr/>
        </p:nvSpPr>
        <p:spPr>
          <a:xfrm>
            <a:off x="4754875" y="2761473"/>
            <a:ext cx="3749100" cy="733500"/>
          </a:xfrm>
          <a:prstGeom prst="rect">
            <a:avLst/>
          </a:prstGeom>
          <a:solidFill>
            <a:srgbClr val="EEF4E6"/>
          </a:solidFill>
          <a:ln cap="flat" cmpd="sng" w="12700">
            <a:solidFill>
              <a:srgbClr val="C4D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4846320" y="2798060"/>
            <a:ext cx="1280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3  Ranker</a:t>
            </a:r>
            <a:r>
              <a:rPr b="1" lang="en-US" sz="1100">
                <a:solidFill>
                  <a:srgbClr val="2C5F2D"/>
                </a:solidFill>
                <a:latin typeface="Calibri"/>
                <a:ea typeface="Calibri"/>
                <a:cs typeface="Calibri"/>
                <a:sym typeface="Calibri"/>
              </a:rPr>
              <a:t>/Classifier</a:t>
            </a:r>
            <a:endParaRPr b="0" i="0" sz="1100" u="none" cap="none" strike="noStrike">
              <a:solidFill>
                <a:schemeClr val="dk1"/>
              </a:solidFill>
              <a:latin typeface="Calibri"/>
              <a:ea typeface="Calibri"/>
              <a:cs typeface="Calibri"/>
              <a:sym typeface="Calibri"/>
            </a:endParaRPr>
          </a:p>
        </p:txBody>
      </p:sp>
      <p:sp>
        <p:nvSpPr>
          <p:cNvPr id="43" name="Google Shape;43;p2"/>
          <p:cNvSpPr/>
          <p:nvPr/>
        </p:nvSpPr>
        <p:spPr>
          <a:xfrm>
            <a:off x="4846325" y="3063225"/>
            <a:ext cx="1463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FA8"/>
              </a:buClr>
              <a:buSzPts val="1000"/>
              <a:buFont typeface="Calibri"/>
              <a:buNone/>
            </a:pPr>
            <a:r>
              <a:rPr b="0" i="1" lang="en-US" sz="1000" u="none" cap="none" strike="noStrike">
                <a:solidFill>
                  <a:srgbClr val="A8BFA8"/>
                </a:solidFill>
                <a:latin typeface="Calibri"/>
                <a:ea typeface="Calibri"/>
                <a:cs typeface="Calibri"/>
                <a:sym typeface="Calibri"/>
              </a:rPr>
              <a:t>Peyton Cunningham &amp;</a:t>
            </a:r>
            <a:endParaRPr b="0" i="1" sz="1000" u="none" cap="none" strike="noStrike">
              <a:solidFill>
                <a:srgbClr val="A8BFA8"/>
              </a:solidFill>
              <a:latin typeface="Calibri"/>
              <a:ea typeface="Calibri"/>
              <a:cs typeface="Calibri"/>
              <a:sym typeface="Calibri"/>
            </a:endParaRPr>
          </a:p>
          <a:p>
            <a:pPr indent="0" lvl="0" marL="0" marR="0" rtl="0" algn="l">
              <a:spcBef>
                <a:spcPts val="0"/>
              </a:spcBef>
              <a:spcAft>
                <a:spcPts val="0"/>
              </a:spcAft>
              <a:buClr>
                <a:srgbClr val="A8BFA8"/>
              </a:buClr>
              <a:buSzPts val="1000"/>
              <a:buFont typeface="Calibri"/>
              <a:buNone/>
            </a:pPr>
            <a:r>
              <a:rPr i="1" lang="en-US" sz="1000">
                <a:solidFill>
                  <a:srgbClr val="A8BFA8"/>
                </a:solidFill>
                <a:latin typeface="Calibri"/>
                <a:ea typeface="Calibri"/>
                <a:cs typeface="Calibri"/>
                <a:sym typeface="Calibri"/>
              </a:rPr>
              <a:t>Jake </a:t>
            </a:r>
            <a:r>
              <a:rPr i="1" lang="en-US" sz="1000">
                <a:solidFill>
                  <a:srgbClr val="A8BFA8"/>
                </a:solidFill>
                <a:latin typeface="Calibri"/>
                <a:ea typeface="Calibri"/>
                <a:cs typeface="Calibri"/>
                <a:sym typeface="Calibri"/>
              </a:rPr>
              <a:t>Mooradian</a:t>
            </a:r>
            <a:endParaRPr i="1" sz="1000">
              <a:solidFill>
                <a:srgbClr val="A8BFA8"/>
              </a:solidFill>
              <a:latin typeface="Calibri"/>
              <a:ea typeface="Calibri"/>
              <a:cs typeface="Calibri"/>
              <a:sym typeface="Calibri"/>
            </a:endParaRPr>
          </a:p>
        </p:txBody>
      </p:sp>
      <p:sp>
        <p:nvSpPr>
          <p:cNvPr id="44" name="Google Shape;44;p2"/>
          <p:cNvSpPr/>
          <p:nvPr/>
        </p:nvSpPr>
        <p:spPr>
          <a:xfrm>
            <a:off x="6263650" y="2834625"/>
            <a:ext cx="2103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scipy cross-correlation → ranked results (baseline ite</a:t>
            </a:r>
            <a:r>
              <a:rPr lang="en-US" sz="1000">
                <a:solidFill>
                  <a:srgbClr val="444444"/>
                </a:solidFill>
                <a:latin typeface="Calibri"/>
                <a:ea typeface="Calibri"/>
                <a:cs typeface="Calibri"/>
                <a:sym typeface="Calibri"/>
              </a:rPr>
              <a:t>ration)</a:t>
            </a:r>
            <a:endParaRPr sz="1000">
              <a:solidFill>
                <a:srgbClr val="444444"/>
              </a:solidFill>
              <a:latin typeface="Calibri"/>
              <a:ea typeface="Calibri"/>
              <a:cs typeface="Calibri"/>
              <a:sym typeface="Calibri"/>
            </a:endParaRPr>
          </a:p>
          <a:p>
            <a:pPr indent="0" lvl="0" marL="0" marR="0" rtl="0" algn="l">
              <a:spcBef>
                <a:spcPts val="0"/>
              </a:spcBef>
              <a:spcAft>
                <a:spcPts val="0"/>
              </a:spcAft>
              <a:buClr>
                <a:srgbClr val="444444"/>
              </a:buClr>
              <a:buSzPts val="1000"/>
              <a:buFont typeface="Calibri"/>
              <a:buNone/>
            </a:pPr>
            <a:r>
              <a:rPr lang="en-US" sz="1000">
                <a:solidFill>
                  <a:srgbClr val="444444"/>
                </a:solidFill>
                <a:latin typeface="Calibri"/>
                <a:ea typeface="Calibri"/>
                <a:cs typeface="Calibri"/>
                <a:sym typeface="Calibri"/>
              </a:rPr>
              <a:t>pretrained NN → ranked results</a:t>
            </a:r>
            <a:endParaRPr sz="1000">
              <a:solidFill>
                <a:srgbClr val="444444"/>
              </a:solidFill>
              <a:latin typeface="Calibri"/>
              <a:ea typeface="Calibri"/>
              <a:cs typeface="Calibri"/>
              <a:sym typeface="Calibri"/>
            </a:endParaRPr>
          </a:p>
          <a:p>
            <a:pPr indent="0" lvl="0" marL="0" marR="0" rtl="0" algn="l">
              <a:spcBef>
                <a:spcPts val="0"/>
              </a:spcBef>
              <a:spcAft>
                <a:spcPts val="0"/>
              </a:spcAft>
              <a:buClr>
                <a:srgbClr val="444444"/>
              </a:buClr>
              <a:buSzPts val="1000"/>
              <a:buFont typeface="Calibri"/>
              <a:buNone/>
            </a:pPr>
            <a:r>
              <a:rPr lang="en-US" sz="1000">
                <a:solidFill>
                  <a:srgbClr val="444444"/>
                </a:solidFill>
                <a:latin typeface="Calibri"/>
                <a:ea typeface="Calibri"/>
                <a:cs typeface="Calibri"/>
                <a:sym typeface="Calibri"/>
              </a:rPr>
              <a:t>(expanded iteration from CC)</a:t>
            </a:r>
            <a:endParaRPr sz="1000">
              <a:solidFill>
                <a:srgbClr val="444444"/>
              </a:solidFill>
              <a:latin typeface="Calibri"/>
              <a:ea typeface="Calibri"/>
              <a:cs typeface="Calibri"/>
              <a:sym typeface="Calibri"/>
            </a:endParaRPr>
          </a:p>
        </p:txBody>
      </p:sp>
      <p:sp>
        <p:nvSpPr>
          <p:cNvPr id="45" name="Google Shape;45;p2"/>
          <p:cNvSpPr/>
          <p:nvPr/>
        </p:nvSpPr>
        <p:spPr>
          <a:xfrm>
            <a:off x="4754880" y="3577379"/>
            <a:ext cx="3749100" cy="594300"/>
          </a:xfrm>
          <a:prstGeom prst="rect">
            <a:avLst/>
          </a:prstGeom>
          <a:solidFill>
            <a:srgbClr val="EEF4E6"/>
          </a:solidFill>
          <a:ln cap="flat" cmpd="sng" w="12700">
            <a:solidFill>
              <a:srgbClr val="C4D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4846320" y="3613955"/>
            <a:ext cx="1280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4  UI</a:t>
            </a:r>
            <a:endParaRPr b="0" i="0" sz="1100" u="none" cap="none" strike="noStrike">
              <a:solidFill>
                <a:schemeClr val="dk1"/>
              </a:solidFill>
              <a:latin typeface="Calibri"/>
              <a:ea typeface="Calibri"/>
              <a:cs typeface="Calibri"/>
              <a:sym typeface="Calibri"/>
            </a:endParaRPr>
          </a:p>
        </p:txBody>
      </p:sp>
      <p:sp>
        <p:nvSpPr>
          <p:cNvPr id="47" name="Google Shape;47;p2"/>
          <p:cNvSpPr/>
          <p:nvPr/>
        </p:nvSpPr>
        <p:spPr>
          <a:xfrm>
            <a:off x="4846320" y="3879131"/>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FA8"/>
              </a:buClr>
              <a:buSzPts val="1000"/>
              <a:buFont typeface="Calibri"/>
              <a:buNone/>
            </a:pPr>
            <a:r>
              <a:rPr b="0" i="1" lang="en-US" sz="1000" u="none" cap="none" strike="noStrike">
                <a:solidFill>
                  <a:srgbClr val="A8BFA8"/>
                </a:solidFill>
                <a:latin typeface="Calibri"/>
                <a:ea typeface="Calibri"/>
                <a:cs typeface="Calibri"/>
                <a:sym typeface="Calibri"/>
              </a:rPr>
              <a:t>Stephen Enriquez</a:t>
            </a:r>
            <a:endParaRPr b="0" i="0" sz="1000" u="none" cap="none" strike="noStrike">
              <a:solidFill>
                <a:schemeClr val="dk1"/>
              </a:solidFill>
              <a:latin typeface="Calibri"/>
              <a:ea typeface="Calibri"/>
              <a:cs typeface="Calibri"/>
              <a:sym typeface="Calibri"/>
            </a:endParaRPr>
          </a:p>
        </p:txBody>
      </p:sp>
      <p:sp>
        <p:nvSpPr>
          <p:cNvPr id="48" name="Google Shape;48;p2"/>
          <p:cNvSpPr/>
          <p:nvPr/>
        </p:nvSpPr>
        <p:spPr>
          <a:xfrm>
            <a:off x="6263640" y="3650531"/>
            <a:ext cx="21030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Flask web app → upload → results page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0"/>
        </a:solidFill>
      </p:bgPr>
    </p:bg>
    <p:spTree>
      <p:nvGrpSpPr>
        <p:cNvPr id="53" name="Shape 53"/>
        <p:cNvGrpSpPr/>
        <p:nvPr/>
      </p:nvGrpSpPr>
      <p:grpSpPr>
        <a:xfrm>
          <a:off x="0" y="0"/>
          <a:ext cx="0" cy="0"/>
          <a:chOff x="0" y="0"/>
          <a:chExt cx="0" cy="0"/>
        </a:xfrm>
      </p:grpSpPr>
      <p:sp>
        <p:nvSpPr>
          <p:cNvPr id="54" name="Google Shape;54;p3"/>
          <p:cNvSpPr/>
          <p:nvPr/>
        </p:nvSpPr>
        <p:spPr>
          <a:xfrm>
            <a:off x="0" y="0"/>
            <a:ext cx="9144000" cy="68580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TOOLS USED</a:t>
            </a:r>
            <a:endParaRPr b="0" i="0" sz="2200" u="none" cap="none" strike="noStrike">
              <a:solidFill>
                <a:schemeClr val="dk1"/>
              </a:solidFill>
              <a:latin typeface="Calibri"/>
              <a:ea typeface="Calibri"/>
              <a:cs typeface="Calibri"/>
              <a:sym typeface="Calibri"/>
            </a:endParaRPr>
          </a:p>
        </p:txBody>
      </p:sp>
      <p:sp>
        <p:nvSpPr>
          <p:cNvPr id="56" name="Google Shape;56;p3"/>
          <p:cNvSpPr/>
          <p:nvPr/>
        </p:nvSpPr>
        <p:spPr>
          <a:xfrm>
            <a:off x="365760" y="914400"/>
            <a:ext cx="4114800" cy="804672"/>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365760" y="914400"/>
            <a:ext cx="109728" cy="804672"/>
          </a:xfrm>
          <a:prstGeom prst="rect">
            <a:avLst/>
          </a:prstGeom>
          <a:solidFill>
            <a:srgbClr val="3572A5"/>
          </a:solidFill>
          <a:ln cap="flat" cmpd="sng" w="12700">
            <a:solidFill>
              <a:srgbClr val="3572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548640" y="987552"/>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1A"/>
              </a:buClr>
              <a:buSzPts val="1300"/>
              <a:buFont typeface="Georgia"/>
              <a:buNone/>
            </a:pPr>
            <a:r>
              <a:rPr b="1" i="0" lang="en-US" sz="1300" u="none" cap="none" strike="noStrike">
                <a:solidFill>
                  <a:srgbClr val="1A2E1A"/>
                </a:solidFill>
                <a:latin typeface="Georgia"/>
                <a:ea typeface="Georgia"/>
                <a:cs typeface="Georgia"/>
                <a:sym typeface="Georgia"/>
              </a:rPr>
              <a:t>Python</a:t>
            </a:r>
            <a:endParaRPr b="0" i="0" sz="1300" u="none" cap="none" strike="noStrike">
              <a:solidFill>
                <a:schemeClr val="dk1"/>
              </a:solidFill>
              <a:latin typeface="Calibri"/>
              <a:ea typeface="Calibri"/>
              <a:cs typeface="Calibri"/>
              <a:sym typeface="Calibri"/>
            </a:endParaRPr>
          </a:p>
        </p:txBody>
      </p:sp>
      <p:sp>
        <p:nvSpPr>
          <p:cNvPr id="59" name="Google Shape;59;p3"/>
          <p:cNvSpPr/>
          <p:nvPr/>
        </p:nvSpPr>
        <p:spPr>
          <a:xfrm>
            <a:off x="548640" y="1298448"/>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Core language for the entire backend pipeline</a:t>
            </a:r>
            <a:endParaRPr b="0" i="0" sz="1000" u="none" cap="none" strike="noStrike">
              <a:solidFill>
                <a:schemeClr val="dk1"/>
              </a:solidFill>
              <a:latin typeface="Calibri"/>
              <a:ea typeface="Calibri"/>
              <a:cs typeface="Calibri"/>
              <a:sym typeface="Calibri"/>
            </a:endParaRPr>
          </a:p>
        </p:txBody>
      </p:sp>
      <p:sp>
        <p:nvSpPr>
          <p:cNvPr id="60" name="Google Shape;60;p3"/>
          <p:cNvSpPr/>
          <p:nvPr/>
        </p:nvSpPr>
        <p:spPr>
          <a:xfrm>
            <a:off x="3383280" y="987552"/>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5F2D"/>
              </a:buClr>
              <a:buSzPts val="1000"/>
              <a:buFont typeface="Calibri"/>
              <a:buNone/>
            </a:pPr>
            <a:r>
              <a:rPr b="1" i="0" lang="en-US" sz="1000" u="none" cap="none" strike="noStrike">
                <a:solidFill>
                  <a:srgbClr val="2C5F2D"/>
                </a:solidFill>
                <a:latin typeface="Calibri"/>
                <a:ea typeface="Calibri"/>
                <a:cs typeface="Calibri"/>
                <a:sym typeface="Calibri"/>
              </a:rPr>
              <a:t>Excellent</a:t>
            </a:r>
            <a:endParaRPr b="0" i="0" sz="1000" u="none" cap="none" strike="noStrike">
              <a:solidFill>
                <a:schemeClr val="dk1"/>
              </a:solidFill>
              <a:latin typeface="Calibri"/>
              <a:ea typeface="Calibri"/>
              <a:cs typeface="Calibri"/>
              <a:sym typeface="Calibri"/>
            </a:endParaRPr>
          </a:p>
        </p:txBody>
      </p:sp>
      <p:sp>
        <p:nvSpPr>
          <p:cNvPr id="61" name="Google Shape;61;p3"/>
          <p:cNvSpPr/>
          <p:nvPr/>
        </p:nvSpPr>
        <p:spPr>
          <a:xfrm>
            <a:off x="4800600" y="914400"/>
            <a:ext cx="4114800" cy="804672"/>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4800600" y="914400"/>
            <a:ext cx="109728" cy="804672"/>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983480" y="987552"/>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1A"/>
              </a:buClr>
              <a:buSzPts val="1300"/>
              <a:buFont typeface="Georgia"/>
              <a:buNone/>
            </a:pPr>
            <a:r>
              <a:rPr b="1" i="0" lang="en-US" sz="1300" u="none" cap="none" strike="noStrike">
                <a:solidFill>
                  <a:srgbClr val="1A2E1A"/>
                </a:solidFill>
                <a:latin typeface="Georgia"/>
                <a:ea typeface="Georgia"/>
                <a:cs typeface="Georgia"/>
                <a:sym typeface="Georgia"/>
              </a:rPr>
              <a:t>librosa</a:t>
            </a:r>
            <a:endParaRPr b="0" i="0" sz="1300" u="none" cap="none" strike="noStrike">
              <a:solidFill>
                <a:schemeClr val="dk1"/>
              </a:solidFill>
              <a:latin typeface="Calibri"/>
              <a:ea typeface="Calibri"/>
              <a:cs typeface="Calibri"/>
              <a:sym typeface="Calibri"/>
            </a:endParaRPr>
          </a:p>
        </p:txBody>
      </p:sp>
      <p:sp>
        <p:nvSpPr>
          <p:cNvPr id="64" name="Google Shape;64;p3"/>
          <p:cNvSpPr/>
          <p:nvPr/>
        </p:nvSpPr>
        <p:spPr>
          <a:xfrm>
            <a:off x="4983480" y="1298448"/>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Audio loading and mel-spectrogram generation</a:t>
            </a:r>
            <a:endParaRPr b="0" i="0" sz="1000" u="none" cap="none" strike="noStrike">
              <a:solidFill>
                <a:schemeClr val="dk1"/>
              </a:solidFill>
              <a:latin typeface="Calibri"/>
              <a:ea typeface="Calibri"/>
              <a:cs typeface="Calibri"/>
              <a:sym typeface="Calibri"/>
            </a:endParaRPr>
          </a:p>
        </p:txBody>
      </p:sp>
      <p:sp>
        <p:nvSpPr>
          <p:cNvPr id="65" name="Google Shape;65;p3"/>
          <p:cNvSpPr/>
          <p:nvPr/>
        </p:nvSpPr>
        <p:spPr>
          <a:xfrm>
            <a:off x="7818120" y="987552"/>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5F2D"/>
              </a:buClr>
              <a:buSzPts val="1000"/>
              <a:buFont typeface="Calibri"/>
              <a:buNone/>
            </a:pPr>
            <a:r>
              <a:rPr b="1" i="0" lang="en-US" sz="1000" u="none" cap="none" strike="noStrike">
                <a:solidFill>
                  <a:srgbClr val="2C5F2D"/>
                </a:solidFill>
                <a:latin typeface="Calibri"/>
                <a:ea typeface="Calibri"/>
                <a:cs typeface="Calibri"/>
                <a:sym typeface="Calibri"/>
              </a:rPr>
              <a:t>Excellent</a:t>
            </a:r>
            <a:endParaRPr b="0" i="0" sz="1000" u="none" cap="none" strike="noStrike">
              <a:solidFill>
                <a:schemeClr val="dk1"/>
              </a:solidFill>
              <a:latin typeface="Calibri"/>
              <a:ea typeface="Calibri"/>
              <a:cs typeface="Calibri"/>
              <a:sym typeface="Calibri"/>
            </a:endParaRPr>
          </a:p>
        </p:txBody>
      </p:sp>
      <p:sp>
        <p:nvSpPr>
          <p:cNvPr id="66" name="Google Shape;66;p3"/>
          <p:cNvSpPr/>
          <p:nvPr/>
        </p:nvSpPr>
        <p:spPr>
          <a:xfrm>
            <a:off x="365760" y="1874520"/>
            <a:ext cx="4114800" cy="804672"/>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365760" y="1874520"/>
            <a:ext cx="109728" cy="804672"/>
          </a:xfrm>
          <a:prstGeom prst="rect">
            <a:avLst/>
          </a:prstGeom>
          <a:solidFill>
            <a:srgbClr val="8BBCD4"/>
          </a:solidFill>
          <a:ln cap="flat" cmpd="sng" w="12700">
            <a:solidFill>
              <a:srgbClr val="8B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548640" y="1947672"/>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1A"/>
              </a:buClr>
              <a:buSzPts val="1300"/>
              <a:buFont typeface="Georgia"/>
              <a:buNone/>
            </a:pPr>
            <a:r>
              <a:rPr b="1" lang="en-US" sz="1300">
                <a:solidFill>
                  <a:srgbClr val="1A2E1A"/>
                </a:solidFill>
                <a:latin typeface="Georgia"/>
                <a:ea typeface="Georgia"/>
                <a:cs typeface="Georgia"/>
                <a:sym typeface="Georgia"/>
              </a:rPr>
              <a:t>PostGreSQL</a:t>
            </a:r>
            <a:endParaRPr b="0" i="0" sz="1300" u="none" cap="none" strike="noStrike">
              <a:solidFill>
                <a:schemeClr val="dk1"/>
              </a:solidFill>
              <a:latin typeface="Calibri"/>
              <a:ea typeface="Calibri"/>
              <a:cs typeface="Calibri"/>
              <a:sym typeface="Calibri"/>
            </a:endParaRPr>
          </a:p>
        </p:txBody>
      </p:sp>
      <p:sp>
        <p:nvSpPr>
          <p:cNvPr id="69" name="Google Shape;69;p3"/>
          <p:cNvSpPr/>
          <p:nvPr/>
        </p:nvSpPr>
        <p:spPr>
          <a:xfrm>
            <a:off x="548640" y="2258568"/>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Database handling for user profiles and results display text</a:t>
            </a:r>
            <a:endParaRPr b="0" i="0" sz="1000" u="none" cap="none" strike="noStrike">
              <a:solidFill>
                <a:schemeClr val="dk1"/>
              </a:solidFill>
              <a:latin typeface="Calibri"/>
              <a:ea typeface="Calibri"/>
              <a:cs typeface="Calibri"/>
              <a:sym typeface="Calibri"/>
            </a:endParaRPr>
          </a:p>
        </p:txBody>
      </p:sp>
      <p:sp>
        <p:nvSpPr>
          <p:cNvPr id="70" name="Google Shape;70;p3"/>
          <p:cNvSpPr/>
          <p:nvPr/>
        </p:nvSpPr>
        <p:spPr>
          <a:xfrm>
            <a:off x="3383280" y="1947672"/>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5F2D"/>
              </a:buClr>
              <a:buSzPts val="1000"/>
              <a:buFont typeface="Calibri"/>
              <a:buNone/>
            </a:pPr>
            <a:r>
              <a:rPr b="1" i="0" lang="en-US" sz="1000" u="none" cap="none" strike="noStrike">
                <a:solidFill>
                  <a:srgbClr val="2C5F2D"/>
                </a:solidFill>
                <a:latin typeface="Calibri"/>
                <a:ea typeface="Calibri"/>
                <a:cs typeface="Calibri"/>
                <a:sym typeface="Calibri"/>
              </a:rPr>
              <a:t>Excellent</a:t>
            </a:r>
            <a:endParaRPr b="0" i="0" sz="1000" u="none" cap="none" strike="noStrike">
              <a:solidFill>
                <a:schemeClr val="dk1"/>
              </a:solidFill>
              <a:latin typeface="Calibri"/>
              <a:ea typeface="Calibri"/>
              <a:cs typeface="Calibri"/>
              <a:sym typeface="Calibri"/>
            </a:endParaRPr>
          </a:p>
        </p:txBody>
      </p:sp>
      <p:sp>
        <p:nvSpPr>
          <p:cNvPr id="71" name="Google Shape;71;p3"/>
          <p:cNvSpPr/>
          <p:nvPr/>
        </p:nvSpPr>
        <p:spPr>
          <a:xfrm>
            <a:off x="4800600" y="1874520"/>
            <a:ext cx="4114800" cy="804672"/>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4800600" y="1874520"/>
            <a:ext cx="109728" cy="804672"/>
          </a:xfrm>
          <a:prstGeom prst="rect">
            <a:avLst/>
          </a:prstGeom>
          <a:solidFill>
            <a:srgbClr val="4DABCF"/>
          </a:solidFill>
          <a:ln cap="flat" cmpd="sng" w="12700">
            <a:solidFill>
              <a:srgbClr val="4DAB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4983480" y="1947672"/>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1A"/>
              </a:buClr>
              <a:buSzPts val="1300"/>
              <a:buFont typeface="Georgia"/>
              <a:buNone/>
            </a:pPr>
            <a:r>
              <a:rPr b="1" i="0" lang="en-US" sz="1300" u="none" cap="none" strike="noStrike">
                <a:solidFill>
                  <a:srgbClr val="1A2E1A"/>
                </a:solidFill>
                <a:latin typeface="Georgia"/>
                <a:ea typeface="Georgia"/>
                <a:cs typeface="Georgia"/>
                <a:sym typeface="Georgia"/>
              </a:rPr>
              <a:t>numpy</a:t>
            </a:r>
            <a:endParaRPr b="0" i="0" sz="1300" u="none" cap="none" strike="noStrike">
              <a:solidFill>
                <a:schemeClr val="dk1"/>
              </a:solidFill>
              <a:latin typeface="Calibri"/>
              <a:ea typeface="Calibri"/>
              <a:cs typeface="Calibri"/>
              <a:sym typeface="Calibri"/>
            </a:endParaRPr>
          </a:p>
        </p:txBody>
      </p:sp>
      <p:sp>
        <p:nvSpPr>
          <p:cNvPr id="74" name="Google Shape;74;p3"/>
          <p:cNvSpPr/>
          <p:nvPr/>
        </p:nvSpPr>
        <p:spPr>
          <a:xfrm>
            <a:off x="4983480" y="2258568"/>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Array math and spectrogram normalization</a:t>
            </a:r>
            <a:endParaRPr b="0" i="0" sz="1000" u="none" cap="none" strike="noStrike">
              <a:solidFill>
                <a:schemeClr val="dk1"/>
              </a:solidFill>
              <a:latin typeface="Calibri"/>
              <a:ea typeface="Calibri"/>
              <a:cs typeface="Calibri"/>
              <a:sym typeface="Calibri"/>
            </a:endParaRPr>
          </a:p>
        </p:txBody>
      </p:sp>
      <p:sp>
        <p:nvSpPr>
          <p:cNvPr id="75" name="Google Shape;75;p3"/>
          <p:cNvSpPr/>
          <p:nvPr/>
        </p:nvSpPr>
        <p:spPr>
          <a:xfrm>
            <a:off x="7818120" y="1947672"/>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5F2D"/>
              </a:buClr>
              <a:buSzPts val="1000"/>
              <a:buFont typeface="Calibri"/>
              <a:buNone/>
            </a:pPr>
            <a:r>
              <a:rPr b="1" i="0" lang="en-US" sz="1000" u="none" cap="none" strike="noStrike">
                <a:solidFill>
                  <a:srgbClr val="2C5F2D"/>
                </a:solidFill>
                <a:latin typeface="Calibri"/>
                <a:ea typeface="Calibri"/>
                <a:cs typeface="Calibri"/>
                <a:sym typeface="Calibri"/>
              </a:rPr>
              <a:t>Excellent</a:t>
            </a:r>
            <a:endParaRPr b="0" i="0" sz="1000" u="none" cap="none" strike="noStrike">
              <a:solidFill>
                <a:schemeClr val="dk1"/>
              </a:solidFill>
              <a:latin typeface="Calibri"/>
              <a:ea typeface="Calibri"/>
              <a:cs typeface="Calibri"/>
              <a:sym typeface="Calibri"/>
            </a:endParaRPr>
          </a:p>
        </p:txBody>
      </p:sp>
      <p:sp>
        <p:nvSpPr>
          <p:cNvPr id="76" name="Google Shape;76;p3"/>
          <p:cNvSpPr/>
          <p:nvPr/>
        </p:nvSpPr>
        <p:spPr>
          <a:xfrm>
            <a:off x="365760" y="2834640"/>
            <a:ext cx="4114800" cy="804672"/>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365760" y="2834640"/>
            <a:ext cx="109728" cy="804672"/>
          </a:xfrm>
          <a:prstGeom prst="rect">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548640" y="2907792"/>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1A"/>
              </a:buClr>
              <a:buSzPts val="1300"/>
              <a:buFont typeface="Georgia"/>
              <a:buNone/>
            </a:pPr>
            <a:r>
              <a:rPr b="1" i="0" lang="en-US" sz="1300" u="none" cap="none" strike="noStrike">
                <a:solidFill>
                  <a:srgbClr val="1A2E1A"/>
                </a:solidFill>
                <a:latin typeface="Georgia"/>
                <a:ea typeface="Georgia"/>
                <a:cs typeface="Georgia"/>
                <a:sym typeface="Georgia"/>
              </a:rPr>
              <a:t>Flask</a:t>
            </a:r>
            <a:endParaRPr b="0" i="0" sz="1300" u="none" cap="none" strike="noStrike">
              <a:solidFill>
                <a:schemeClr val="dk1"/>
              </a:solidFill>
              <a:latin typeface="Calibri"/>
              <a:ea typeface="Calibri"/>
              <a:cs typeface="Calibri"/>
              <a:sym typeface="Calibri"/>
            </a:endParaRPr>
          </a:p>
        </p:txBody>
      </p:sp>
      <p:sp>
        <p:nvSpPr>
          <p:cNvPr id="79" name="Google Shape;79;p3"/>
          <p:cNvSpPr/>
          <p:nvPr/>
        </p:nvSpPr>
        <p:spPr>
          <a:xfrm>
            <a:off x="548640" y="3218688"/>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Web server, routing, and HTML rendering</a:t>
            </a:r>
            <a:endParaRPr b="0" i="0" sz="1000" u="none" cap="none" strike="noStrike">
              <a:solidFill>
                <a:schemeClr val="dk1"/>
              </a:solidFill>
              <a:latin typeface="Calibri"/>
              <a:ea typeface="Calibri"/>
              <a:cs typeface="Calibri"/>
              <a:sym typeface="Calibri"/>
            </a:endParaRPr>
          </a:p>
        </p:txBody>
      </p:sp>
      <p:sp>
        <p:nvSpPr>
          <p:cNvPr id="80" name="Google Shape;80;p3"/>
          <p:cNvSpPr/>
          <p:nvPr/>
        </p:nvSpPr>
        <p:spPr>
          <a:xfrm>
            <a:off x="3383280" y="2907792"/>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5F2D"/>
              </a:buClr>
              <a:buSzPts val="1000"/>
              <a:buFont typeface="Calibri"/>
              <a:buNone/>
            </a:pPr>
            <a:r>
              <a:rPr b="1" i="0" lang="en-US" sz="1000" u="none" cap="none" strike="noStrike">
                <a:solidFill>
                  <a:srgbClr val="2C5F2D"/>
                </a:solidFill>
                <a:latin typeface="Calibri"/>
                <a:ea typeface="Calibri"/>
                <a:cs typeface="Calibri"/>
                <a:sym typeface="Calibri"/>
              </a:rPr>
              <a:t>Excellent</a:t>
            </a:r>
            <a:endParaRPr b="0" i="0" sz="1000" u="none" cap="none" strike="noStrike">
              <a:solidFill>
                <a:schemeClr val="dk1"/>
              </a:solidFill>
              <a:latin typeface="Calibri"/>
              <a:ea typeface="Calibri"/>
              <a:cs typeface="Calibri"/>
              <a:sym typeface="Calibri"/>
            </a:endParaRPr>
          </a:p>
        </p:txBody>
      </p:sp>
      <p:sp>
        <p:nvSpPr>
          <p:cNvPr id="81" name="Google Shape;81;p3"/>
          <p:cNvSpPr/>
          <p:nvPr/>
        </p:nvSpPr>
        <p:spPr>
          <a:xfrm>
            <a:off x="4800600" y="2834640"/>
            <a:ext cx="4114800" cy="804672"/>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4800600" y="2834640"/>
            <a:ext cx="109728" cy="804672"/>
          </a:xfrm>
          <a:prstGeom prst="rect">
            <a:avLst/>
          </a:prstGeom>
          <a:solidFill>
            <a:srgbClr val="F05032"/>
          </a:solidFill>
          <a:ln cap="flat" cmpd="sng" w="12700">
            <a:solidFill>
              <a:srgbClr val="F050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4983480" y="2907792"/>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1A"/>
              </a:buClr>
              <a:buSzPts val="1300"/>
              <a:buFont typeface="Georgia"/>
              <a:buNone/>
            </a:pPr>
            <a:r>
              <a:rPr b="1" i="0" lang="en-US" sz="1300" u="none" cap="none" strike="noStrike">
                <a:solidFill>
                  <a:srgbClr val="1A2E1A"/>
                </a:solidFill>
                <a:latin typeface="Georgia"/>
                <a:ea typeface="Georgia"/>
                <a:cs typeface="Georgia"/>
                <a:sym typeface="Georgia"/>
              </a:rPr>
              <a:t>Git / GitHub</a:t>
            </a:r>
            <a:endParaRPr b="0" i="0" sz="1300" u="none" cap="none" strike="noStrike">
              <a:solidFill>
                <a:schemeClr val="dk1"/>
              </a:solidFill>
              <a:latin typeface="Calibri"/>
              <a:ea typeface="Calibri"/>
              <a:cs typeface="Calibri"/>
              <a:sym typeface="Calibri"/>
            </a:endParaRPr>
          </a:p>
        </p:txBody>
      </p:sp>
      <p:sp>
        <p:nvSpPr>
          <p:cNvPr id="84" name="Google Shape;84;p3"/>
          <p:cNvSpPr/>
          <p:nvPr/>
        </p:nvSpPr>
        <p:spPr>
          <a:xfrm>
            <a:off x="4983480" y="3218688"/>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Version control, branching, and PR workflow</a:t>
            </a:r>
            <a:endParaRPr b="0" i="0" sz="1000" u="none" cap="none" strike="noStrike">
              <a:solidFill>
                <a:schemeClr val="dk1"/>
              </a:solidFill>
              <a:latin typeface="Calibri"/>
              <a:ea typeface="Calibri"/>
              <a:cs typeface="Calibri"/>
              <a:sym typeface="Calibri"/>
            </a:endParaRPr>
          </a:p>
        </p:txBody>
      </p:sp>
      <p:sp>
        <p:nvSpPr>
          <p:cNvPr id="85" name="Google Shape;85;p3"/>
          <p:cNvSpPr/>
          <p:nvPr/>
        </p:nvSpPr>
        <p:spPr>
          <a:xfrm>
            <a:off x="7818120" y="2907792"/>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5F2D"/>
              </a:buClr>
              <a:buSzPts val="1000"/>
              <a:buFont typeface="Calibri"/>
              <a:buNone/>
            </a:pPr>
            <a:r>
              <a:rPr b="1" i="0" lang="en-US" sz="1000" u="none" cap="none" strike="noStrike">
                <a:solidFill>
                  <a:srgbClr val="2C5F2D"/>
                </a:solidFill>
                <a:latin typeface="Calibri"/>
                <a:ea typeface="Calibri"/>
                <a:cs typeface="Calibri"/>
                <a:sym typeface="Calibri"/>
              </a:rPr>
              <a:t>Excellent</a:t>
            </a:r>
            <a:endParaRPr b="0" i="0" sz="1000" u="none" cap="none" strike="noStrike">
              <a:solidFill>
                <a:schemeClr val="dk1"/>
              </a:solidFill>
              <a:latin typeface="Calibri"/>
              <a:ea typeface="Calibri"/>
              <a:cs typeface="Calibri"/>
              <a:sym typeface="Calibri"/>
            </a:endParaRPr>
          </a:p>
        </p:txBody>
      </p:sp>
      <p:sp>
        <p:nvSpPr>
          <p:cNvPr id="86" name="Google Shape;86;p3"/>
          <p:cNvSpPr/>
          <p:nvPr/>
        </p:nvSpPr>
        <p:spPr>
          <a:xfrm>
            <a:off x="365760" y="3794760"/>
            <a:ext cx="4114800" cy="804672"/>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365760" y="3794760"/>
            <a:ext cx="109728" cy="804672"/>
          </a:xfrm>
          <a:prstGeom prst="rect">
            <a:avLst/>
          </a:prstGeom>
          <a:solidFill>
            <a:srgbClr val="D4A017"/>
          </a:solidFill>
          <a:ln cap="flat" cmpd="sng" w="12700">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548640" y="3867912"/>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1A"/>
              </a:buClr>
              <a:buSzPts val="1300"/>
              <a:buFont typeface="Georgia"/>
              <a:buNone/>
            </a:pPr>
            <a:r>
              <a:rPr b="1" i="0" lang="en-US" sz="1300" u="none" cap="none" strike="noStrike">
                <a:solidFill>
                  <a:srgbClr val="1A2E1A"/>
                </a:solidFill>
                <a:latin typeface="Georgia"/>
                <a:ea typeface="Georgia"/>
                <a:cs typeface="Georgia"/>
                <a:sym typeface="Georgia"/>
              </a:rPr>
              <a:t>Xeno-canto</a:t>
            </a:r>
            <a:endParaRPr b="0" i="0" sz="1300" u="none" cap="none" strike="noStrike">
              <a:solidFill>
                <a:schemeClr val="dk1"/>
              </a:solidFill>
              <a:latin typeface="Calibri"/>
              <a:ea typeface="Calibri"/>
              <a:cs typeface="Calibri"/>
              <a:sym typeface="Calibri"/>
            </a:endParaRPr>
          </a:p>
        </p:txBody>
      </p:sp>
      <p:sp>
        <p:nvSpPr>
          <p:cNvPr id="89" name="Google Shape;89;p3"/>
          <p:cNvSpPr/>
          <p:nvPr/>
        </p:nvSpPr>
        <p:spPr>
          <a:xfrm>
            <a:off x="548640" y="4178808"/>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Open-source bird call audio dataset</a:t>
            </a:r>
            <a:endParaRPr b="0" i="0" sz="1000" u="none" cap="none" strike="noStrike">
              <a:solidFill>
                <a:schemeClr val="dk1"/>
              </a:solidFill>
              <a:latin typeface="Calibri"/>
              <a:ea typeface="Calibri"/>
              <a:cs typeface="Calibri"/>
              <a:sym typeface="Calibri"/>
            </a:endParaRPr>
          </a:p>
        </p:txBody>
      </p:sp>
      <p:sp>
        <p:nvSpPr>
          <p:cNvPr id="90" name="Google Shape;90;p3"/>
          <p:cNvSpPr/>
          <p:nvPr/>
        </p:nvSpPr>
        <p:spPr>
          <a:xfrm>
            <a:off x="3383280" y="3867912"/>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5F2D"/>
              </a:buClr>
              <a:buSzPts val="1000"/>
              <a:buFont typeface="Calibri"/>
              <a:buNone/>
            </a:pPr>
            <a:r>
              <a:rPr b="1" i="0" lang="en-US" sz="1000" u="none" cap="none" strike="noStrike">
                <a:solidFill>
                  <a:srgbClr val="2C5F2D"/>
                </a:solidFill>
                <a:latin typeface="Calibri"/>
                <a:ea typeface="Calibri"/>
                <a:cs typeface="Calibri"/>
                <a:sym typeface="Calibri"/>
              </a:rPr>
              <a:t>Excellent</a:t>
            </a:r>
            <a:endParaRPr b="0" i="0" sz="1000" u="none" cap="none" strike="noStrike">
              <a:solidFill>
                <a:schemeClr val="dk1"/>
              </a:solidFill>
              <a:latin typeface="Calibri"/>
              <a:ea typeface="Calibri"/>
              <a:cs typeface="Calibri"/>
              <a:sym typeface="Calibri"/>
            </a:endParaRPr>
          </a:p>
        </p:txBody>
      </p:sp>
      <p:sp>
        <p:nvSpPr>
          <p:cNvPr id="91" name="Google Shape;91;p3"/>
          <p:cNvSpPr/>
          <p:nvPr/>
        </p:nvSpPr>
        <p:spPr>
          <a:xfrm>
            <a:off x="4800600" y="3794760"/>
            <a:ext cx="4114800" cy="804672"/>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4800600" y="3794760"/>
            <a:ext cx="109728" cy="804672"/>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4983480" y="3867912"/>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1A"/>
              </a:buClr>
              <a:buSzPts val="1300"/>
              <a:buFont typeface="Georgia"/>
              <a:buNone/>
            </a:pPr>
            <a:r>
              <a:rPr b="1" i="0" lang="en-US" sz="1300" u="none" cap="none" strike="noStrike">
                <a:solidFill>
                  <a:srgbClr val="1A2E1A"/>
                </a:solidFill>
                <a:latin typeface="Georgia"/>
                <a:ea typeface="Georgia"/>
                <a:cs typeface="Georgia"/>
                <a:sym typeface="Georgia"/>
              </a:rPr>
              <a:t>matplotlib</a:t>
            </a:r>
            <a:endParaRPr b="0" i="0" sz="1300" u="none" cap="none" strike="noStrike">
              <a:solidFill>
                <a:schemeClr val="dk1"/>
              </a:solidFill>
              <a:latin typeface="Calibri"/>
              <a:ea typeface="Calibri"/>
              <a:cs typeface="Calibri"/>
              <a:sym typeface="Calibri"/>
            </a:endParaRPr>
          </a:p>
        </p:txBody>
      </p:sp>
      <p:sp>
        <p:nvSpPr>
          <p:cNvPr id="94" name="Google Shape;94;p3"/>
          <p:cNvSpPr/>
          <p:nvPr/>
        </p:nvSpPr>
        <p:spPr>
          <a:xfrm>
            <a:off x="4983480" y="4178808"/>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Spectrogram visualization</a:t>
            </a:r>
            <a:endParaRPr b="0" i="0" sz="1000" u="none" cap="none" strike="noStrike">
              <a:solidFill>
                <a:schemeClr val="dk1"/>
              </a:solidFill>
              <a:latin typeface="Calibri"/>
              <a:ea typeface="Calibri"/>
              <a:cs typeface="Calibri"/>
              <a:sym typeface="Calibri"/>
            </a:endParaRPr>
          </a:p>
        </p:txBody>
      </p:sp>
      <p:sp>
        <p:nvSpPr>
          <p:cNvPr id="95" name="Google Shape;95;p3"/>
          <p:cNvSpPr/>
          <p:nvPr/>
        </p:nvSpPr>
        <p:spPr>
          <a:xfrm>
            <a:off x="7818120" y="3867912"/>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5F2D"/>
              </a:buClr>
              <a:buSzPts val="1000"/>
              <a:buFont typeface="Calibri"/>
              <a:buNone/>
            </a:pPr>
            <a:r>
              <a:rPr b="1" lang="en-US" sz="1000">
                <a:solidFill>
                  <a:srgbClr val="2C5F2D"/>
                </a:solidFill>
                <a:latin typeface="Calibri"/>
                <a:ea typeface="Calibri"/>
                <a:cs typeface="Calibri"/>
                <a:sym typeface="Calibri"/>
              </a:rPr>
              <a:t>Excellent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0"/>
        </a:solidFill>
      </p:bgPr>
    </p:bg>
    <p:spTree>
      <p:nvGrpSpPr>
        <p:cNvPr id="100" name="Shape 100"/>
        <p:cNvGrpSpPr/>
        <p:nvPr/>
      </p:nvGrpSpPr>
      <p:grpSpPr>
        <a:xfrm>
          <a:off x="0" y="0"/>
          <a:ext cx="0" cy="0"/>
          <a:chOff x="0" y="0"/>
          <a:chExt cx="0" cy="0"/>
        </a:xfrm>
      </p:grpSpPr>
      <p:sp>
        <p:nvSpPr>
          <p:cNvPr id="101" name="Google Shape;101;g3d68236bfc0_0_12"/>
          <p:cNvSpPr/>
          <p:nvPr/>
        </p:nvSpPr>
        <p:spPr>
          <a:xfrm>
            <a:off x="0" y="0"/>
            <a:ext cx="9144000" cy="68580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d68236bfc0_0_12"/>
          <p:cNvSpPr/>
          <p:nvPr/>
        </p:nvSpPr>
        <p:spPr>
          <a:xfrm>
            <a:off x="365749" y="0"/>
            <a:ext cx="64608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DATASET COLLECTION</a:t>
            </a:r>
            <a:endParaRPr b="0" i="0" sz="2000" u="none" cap="none" strike="noStrike">
              <a:solidFill>
                <a:schemeClr val="dk1"/>
              </a:solidFill>
              <a:latin typeface="Calibri"/>
              <a:ea typeface="Calibri"/>
              <a:cs typeface="Calibri"/>
              <a:sym typeface="Calibri"/>
            </a:endParaRPr>
          </a:p>
        </p:txBody>
      </p:sp>
      <p:sp>
        <p:nvSpPr>
          <p:cNvPr id="103" name="Google Shape;103;g3d68236bfc0_0_12"/>
          <p:cNvSpPr/>
          <p:nvPr/>
        </p:nvSpPr>
        <p:spPr>
          <a:xfrm>
            <a:off x="274320" y="868680"/>
            <a:ext cx="4023300" cy="40233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d68236bfc0_0_12"/>
          <p:cNvSpPr/>
          <p:nvPr/>
        </p:nvSpPr>
        <p:spPr>
          <a:xfrm>
            <a:off x="457200" y="960120"/>
            <a:ext cx="365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400"/>
              <a:buFont typeface="Georgia"/>
              <a:buNone/>
            </a:pPr>
            <a:r>
              <a:rPr b="1" i="0" lang="en-US" sz="1400" u="none" cap="none" strike="noStrike">
                <a:solidFill>
                  <a:srgbClr val="2C5F2D"/>
                </a:solidFill>
                <a:latin typeface="Georgia"/>
                <a:ea typeface="Georgia"/>
                <a:cs typeface="Georgia"/>
                <a:sym typeface="Georgia"/>
              </a:rPr>
              <a:t>Audio Collection</a:t>
            </a:r>
            <a:endParaRPr b="0" i="0" sz="1400" u="none" cap="none" strike="noStrike">
              <a:solidFill>
                <a:schemeClr val="dk1"/>
              </a:solidFill>
              <a:latin typeface="Calibri"/>
              <a:ea typeface="Calibri"/>
              <a:cs typeface="Calibri"/>
              <a:sym typeface="Calibri"/>
            </a:endParaRPr>
          </a:p>
        </p:txBody>
      </p:sp>
      <p:sp>
        <p:nvSpPr>
          <p:cNvPr id="105" name="Google Shape;105;g3d68236bfc0_0_12"/>
          <p:cNvSpPr/>
          <p:nvPr/>
        </p:nvSpPr>
        <p:spPr>
          <a:xfrm>
            <a:off x="457200" y="1371600"/>
            <a:ext cx="3657600" cy="3291900"/>
          </a:xfrm>
          <a:prstGeom prst="rect">
            <a:avLst/>
          </a:prstGeom>
          <a:noFill/>
          <a:ln>
            <a:noFill/>
          </a:ln>
        </p:spPr>
        <p:txBody>
          <a:bodyPr anchorCtr="0" anchor="t" bIns="0" lIns="0" spcFirstLastPara="1" rIns="0" wrap="square" tIns="0">
            <a:noAutofit/>
          </a:bodyPr>
          <a:lstStyle/>
          <a:p>
            <a:pPr indent="-368300" lvl="0" marL="342900" marR="0" rtl="0" algn="l">
              <a:spcBef>
                <a:spcPts val="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Downloaded from Xeno-canto (</a:t>
            </a:r>
            <a:r>
              <a:rPr b="0" i="0" lang="en-US" sz="1600" u="sng" cap="none" strike="noStrike">
                <a:solidFill>
                  <a:schemeClr val="hlink"/>
                </a:solidFill>
                <a:latin typeface="Calibri"/>
                <a:ea typeface="Calibri"/>
                <a:cs typeface="Calibri"/>
                <a:sym typeface="Calibri"/>
                <a:hlinkClick r:id="rId3"/>
              </a:rPr>
              <a:t>xeno-canto.org</a:t>
            </a:r>
            <a:r>
              <a:rPr b="0" i="0" lang="en-US" sz="1600" u="none" cap="none" strike="noStrike">
                <a:solidFill>
                  <a:srgbClr val="333333"/>
                </a:solidFill>
                <a:latin typeface="Calibri"/>
                <a:ea typeface="Calibri"/>
                <a:cs typeface="Calibri"/>
                <a:sym typeface="Calibri"/>
              </a:rPr>
              <a:t>)</a:t>
            </a:r>
            <a:r>
              <a:rPr lang="en-US" sz="1600">
                <a:solidFill>
                  <a:srgbClr val="333333"/>
                </a:solidFill>
                <a:latin typeface="Calibri"/>
                <a:ea typeface="Calibri"/>
                <a:cs typeface="Calibri"/>
                <a:sym typeface="Calibri"/>
              </a:rPr>
              <a:t>; recoding source ID retained in filename</a:t>
            </a:r>
            <a:endParaRPr b="0" i="0" sz="16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600"/>
              <a:buFont typeface="Calibri"/>
              <a:buChar char="•"/>
            </a:pPr>
            <a:r>
              <a:rPr lang="en-US" sz="1600">
                <a:solidFill>
                  <a:srgbClr val="333333"/>
                </a:solidFill>
                <a:latin typeface="Calibri"/>
                <a:ea typeface="Calibri"/>
                <a:cs typeface="Calibri"/>
                <a:sym typeface="Calibri"/>
              </a:rPr>
              <a:t>5</a:t>
            </a:r>
            <a:r>
              <a:rPr b="0" i="0" lang="en-US" sz="1600" u="none" cap="none" strike="noStrike">
                <a:solidFill>
                  <a:srgbClr val="333333"/>
                </a:solidFill>
                <a:latin typeface="Calibri"/>
                <a:ea typeface="Calibri"/>
                <a:cs typeface="Calibri"/>
                <a:sym typeface="Calibri"/>
              </a:rPr>
              <a:t> bird species</a:t>
            </a:r>
            <a:r>
              <a:rPr lang="en-US" sz="1600">
                <a:solidFill>
                  <a:srgbClr val="333333"/>
                </a:solidFill>
                <a:latin typeface="Calibri"/>
                <a:ea typeface="Calibri"/>
                <a:cs typeface="Calibri"/>
                <a:sym typeface="Calibri"/>
              </a:rPr>
              <a:t>:</a:t>
            </a:r>
            <a:r>
              <a:rPr b="0" i="0" lang="en-US" sz="1600" u="none" cap="none" strike="noStrike">
                <a:solidFill>
                  <a:srgbClr val="333333"/>
                </a:solidFill>
                <a:latin typeface="Calibri"/>
                <a:ea typeface="Calibri"/>
                <a:cs typeface="Calibri"/>
                <a:sym typeface="Calibri"/>
              </a:rPr>
              <a:t> American Robin, Common Loon, Mourning Dove, Pine Warbler, Sandhill Crane</a:t>
            </a:r>
            <a:endParaRPr b="0" i="0" sz="16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8 recordings per bird in data/reference/</a:t>
            </a:r>
            <a:endParaRPr b="0" i="0" sz="16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1 test recording per bird in data/test/</a:t>
            </a:r>
            <a:endParaRPr b="0" i="0" sz="16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Formats: MP3 (bird call recordings) and M4A (b</a:t>
            </a:r>
            <a:r>
              <a:rPr lang="en-US" sz="1600">
                <a:solidFill>
                  <a:srgbClr val="333333"/>
                </a:solidFill>
                <a:latin typeface="Calibri"/>
                <a:ea typeface="Calibri"/>
                <a:cs typeface="Calibri"/>
                <a:sym typeface="Calibri"/>
              </a:rPr>
              <a:t>espoke background noise control files clipped from bird call recordings</a:t>
            </a:r>
            <a:r>
              <a:rPr lang="en-US" sz="1600">
                <a:solidFill>
                  <a:srgbClr val="333333"/>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06" name="Google Shape;106;g3d68236bfc0_0_12"/>
          <p:cNvSpPr/>
          <p:nvPr/>
        </p:nvSpPr>
        <p:spPr>
          <a:xfrm>
            <a:off x="4663440" y="868680"/>
            <a:ext cx="4206300" cy="40233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d68236bfc0_0_12"/>
          <p:cNvSpPr/>
          <p:nvPr/>
        </p:nvSpPr>
        <p:spPr>
          <a:xfrm>
            <a:off x="4846320" y="960120"/>
            <a:ext cx="3840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400"/>
              <a:buFont typeface="Georgia"/>
              <a:buNone/>
            </a:pPr>
            <a:r>
              <a:rPr b="1" i="0" lang="en-US" sz="1400" u="none" cap="none" strike="noStrike">
                <a:solidFill>
                  <a:srgbClr val="2C5F2D"/>
                </a:solidFill>
                <a:latin typeface="Georgia"/>
                <a:ea typeface="Georgia"/>
                <a:cs typeface="Georgia"/>
                <a:sym typeface="Georgia"/>
              </a:rPr>
              <a:t>Preprocessing — dataset_builder.py</a:t>
            </a:r>
            <a:endParaRPr b="0" i="0" sz="1400" u="none" cap="none" strike="noStrike">
              <a:solidFill>
                <a:schemeClr val="dk1"/>
              </a:solidFill>
              <a:latin typeface="Calibri"/>
              <a:ea typeface="Calibri"/>
              <a:cs typeface="Calibri"/>
              <a:sym typeface="Calibri"/>
            </a:endParaRPr>
          </a:p>
        </p:txBody>
      </p:sp>
      <p:sp>
        <p:nvSpPr>
          <p:cNvPr id="108" name="Google Shape;108;g3d68236bfc0_0_12"/>
          <p:cNvSpPr/>
          <p:nvPr/>
        </p:nvSpPr>
        <p:spPr>
          <a:xfrm>
            <a:off x="4846320" y="1371600"/>
            <a:ext cx="3840600" cy="3291900"/>
          </a:xfrm>
          <a:prstGeom prst="rect">
            <a:avLst/>
          </a:prstGeom>
          <a:noFill/>
          <a:ln>
            <a:noFill/>
          </a:ln>
        </p:spPr>
        <p:txBody>
          <a:bodyPr anchorCtr="0" anchor="t" bIns="0" lIns="0" spcFirstLastPara="1" rIns="0" wrap="square" tIns="0">
            <a:noAutofit/>
          </a:bodyPr>
          <a:lstStyle/>
          <a:p>
            <a:pPr indent="-36195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Loops through all reference audio files</a:t>
            </a:r>
            <a:endParaRPr b="0" i="0" sz="1500" u="none" cap="none" strike="noStrike">
              <a:solidFill>
                <a:schemeClr val="dk1"/>
              </a:solidFill>
              <a:latin typeface="Calibri"/>
              <a:ea typeface="Calibri"/>
              <a:cs typeface="Calibri"/>
              <a:sym typeface="Calibri"/>
            </a:endParaRPr>
          </a:p>
          <a:p>
            <a:pPr indent="-36195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Calls generate_numpy_spec() on each file</a:t>
            </a:r>
            <a:r>
              <a:rPr lang="en-US" sz="1500">
                <a:solidFill>
                  <a:srgbClr val="333333"/>
                </a:solidFill>
                <a:latin typeface="Calibri"/>
                <a:ea typeface="Calibri"/>
                <a:cs typeface="Calibri"/>
                <a:sym typeface="Calibri"/>
              </a:rPr>
              <a:t>,</a:t>
            </a:r>
            <a:r>
              <a:rPr b="0" i="0" lang="en-US" sz="1500" u="none" cap="none" strike="noStrike">
                <a:solidFill>
                  <a:srgbClr val="333333"/>
                </a:solidFill>
                <a:latin typeface="Calibri"/>
                <a:ea typeface="Calibri"/>
                <a:cs typeface="Calibri"/>
                <a:sym typeface="Calibri"/>
              </a:rPr>
              <a:t> same librosa pipeline as Bri's module, with added normalization step</a:t>
            </a:r>
            <a:endParaRPr b="0" i="0" sz="1500" u="none" cap="none" strike="noStrike">
              <a:solidFill>
                <a:schemeClr val="dk1"/>
              </a:solidFill>
              <a:latin typeface="Calibri"/>
              <a:ea typeface="Calibri"/>
              <a:cs typeface="Calibri"/>
              <a:sym typeface="Calibri"/>
            </a:endParaRPr>
          </a:p>
          <a:p>
            <a:pPr indent="-36195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Saves each spectrogram as a .npy file in data/numpy_specs/ preserving the folder structure</a:t>
            </a:r>
            <a:endParaRPr b="0" i="0" sz="1500" u="none" cap="none" strike="noStrike">
              <a:solidFill>
                <a:schemeClr val="dk1"/>
              </a:solidFill>
              <a:latin typeface="Calibri"/>
              <a:ea typeface="Calibri"/>
              <a:cs typeface="Calibri"/>
              <a:sym typeface="Calibri"/>
            </a:endParaRPr>
          </a:p>
          <a:p>
            <a:pPr indent="-36195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Result: pre-converted spectrograms ready for fast training without re-processing audio each run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0"/>
        </a:solidFill>
      </p:bgPr>
    </p:bg>
    <p:spTree>
      <p:nvGrpSpPr>
        <p:cNvPr id="113" name="Shape 113"/>
        <p:cNvGrpSpPr/>
        <p:nvPr/>
      </p:nvGrpSpPr>
      <p:grpSpPr>
        <a:xfrm>
          <a:off x="0" y="0"/>
          <a:ext cx="0" cy="0"/>
          <a:chOff x="0" y="0"/>
          <a:chExt cx="0" cy="0"/>
        </a:xfrm>
      </p:grpSpPr>
      <p:sp>
        <p:nvSpPr>
          <p:cNvPr id="114" name="Google Shape;114;g3d68236bfc0_3_20"/>
          <p:cNvSpPr/>
          <p:nvPr/>
        </p:nvSpPr>
        <p:spPr>
          <a:xfrm>
            <a:off x="0" y="0"/>
            <a:ext cx="9144000" cy="68580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d68236bfc0_3_20"/>
          <p:cNvSpPr/>
          <p:nvPr/>
        </p:nvSpPr>
        <p:spPr>
          <a:xfrm>
            <a:off x="365760" y="0"/>
            <a:ext cx="8412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Georgia"/>
              <a:buNone/>
            </a:pPr>
            <a:r>
              <a:rPr b="1" lang="en-US" sz="2200">
                <a:solidFill>
                  <a:srgbClr val="FFFFFF"/>
                </a:solidFill>
                <a:latin typeface="Georgia"/>
                <a:ea typeface="Georgia"/>
                <a:cs typeface="Georgia"/>
                <a:sym typeface="Georgia"/>
              </a:rPr>
              <a:t>DATABASE</a:t>
            </a:r>
            <a:endParaRPr b="0" i="0" sz="2200" u="none" cap="none" strike="noStrike">
              <a:solidFill>
                <a:schemeClr val="dk1"/>
              </a:solidFill>
              <a:latin typeface="Calibri"/>
              <a:ea typeface="Calibri"/>
              <a:cs typeface="Calibri"/>
              <a:sym typeface="Calibri"/>
            </a:endParaRPr>
          </a:p>
        </p:txBody>
      </p:sp>
      <p:sp>
        <p:nvSpPr>
          <p:cNvPr id="116" name="Google Shape;116;g3d68236bfc0_3_20"/>
          <p:cNvSpPr/>
          <p:nvPr/>
        </p:nvSpPr>
        <p:spPr>
          <a:xfrm>
            <a:off x="365750" y="914400"/>
            <a:ext cx="4114800" cy="22602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d68236bfc0_3_20"/>
          <p:cNvSpPr/>
          <p:nvPr/>
        </p:nvSpPr>
        <p:spPr>
          <a:xfrm>
            <a:off x="365760" y="914400"/>
            <a:ext cx="4114800" cy="347400"/>
          </a:xfrm>
          <a:prstGeom prst="rect">
            <a:avLst/>
          </a:prstGeom>
          <a:solidFill>
            <a:srgbClr val="EEF4E6"/>
          </a:solidFill>
          <a:ln cap="flat" cmpd="sng" w="12700">
            <a:solidFill>
              <a:srgbClr val="D0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d68236bfc0_3_20"/>
          <p:cNvSpPr/>
          <p:nvPr/>
        </p:nvSpPr>
        <p:spPr>
          <a:xfrm>
            <a:off x="502920" y="960120"/>
            <a:ext cx="384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lang="en-US" sz="1300">
                <a:solidFill>
                  <a:srgbClr val="2C5F2D"/>
                </a:solidFill>
                <a:latin typeface="Georgia"/>
                <a:ea typeface="Georgia"/>
                <a:cs typeface="Georgia"/>
                <a:sym typeface="Georgia"/>
              </a:rPr>
              <a:t>Schema Overview</a:t>
            </a:r>
            <a:endParaRPr b="0" i="0" sz="1300" u="none" cap="none" strike="noStrike">
              <a:solidFill>
                <a:schemeClr val="dk1"/>
              </a:solidFill>
              <a:latin typeface="Calibri"/>
              <a:ea typeface="Calibri"/>
              <a:cs typeface="Calibri"/>
              <a:sym typeface="Calibri"/>
            </a:endParaRPr>
          </a:p>
        </p:txBody>
      </p:sp>
      <p:sp>
        <p:nvSpPr>
          <p:cNvPr id="119" name="Google Shape;119;g3d68236bfc0_3_20"/>
          <p:cNvSpPr/>
          <p:nvPr/>
        </p:nvSpPr>
        <p:spPr>
          <a:xfrm>
            <a:off x="502920" y="1353312"/>
            <a:ext cx="3840600" cy="123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100"/>
              <a:buFont typeface="Calibri"/>
              <a:buNone/>
            </a:pPr>
            <a:r>
              <a:rPr lang="en-US" sz="1100">
                <a:solidFill>
                  <a:srgbClr val="444444"/>
                </a:solidFill>
                <a:latin typeface="Calibri"/>
                <a:ea typeface="Calibri"/>
                <a:cs typeface="Calibri"/>
                <a:sym typeface="Calibri"/>
              </a:rPr>
              <a:t>Three tables, designed around the core user flow:</a:t>
            </a:r>
            <a:endParaRPr sz="1100">
              <a:solidFill>
                <a:srgbClr val="444444"/>
              </a:solidFill>
              <a:latin typeface="Calibri"/>
              <a:ea typeface="Calibri"/>
              <a:cs typeface="Calibri"/>
              <a:sym typeface="Calibri"/>
            </a:endParaRPr>
          </a:p>
          <a:p>
            <a:pPr indent="0" lvl="0" marL="0" marR="0" rtl="0" algn="l">
              <a:spcBef>
                <a:spcPts val="0"/>
              </a:spcBef>
              <a:spcAft>
                <a:spcPts val="0"/>
              </a:spcAft>
              <a:buNone/>
            </a:pPr>
            <a:r>
              <a:t/>
            </a:r>
            <a:endParaRPr sz="1100">
              <a:solidFill>
                <a:srgbClr val="444444"/>
              </a:solidFill>
              <a:latin typeface="Calibri"/>
              <a:ea typeface="Calibri"/>
              <a:cs typeface="Calibri"/>
              <a:sym typeface="Calibri"/>
            </a:endParaRPr>
          </a:p>
        </p:txBody>
      </p:sp>
      <p:sp>
        <p:nvSpPr>
          <p:cNvPr id="120" name="Google Shape;120;g3d68236bfc0_3_20"/>
          <p:cNvSpPr/>
          <p:nvPr/>
        </p:nvSpPr>
        <p:spPr>
          <a:xfrm>
            <a:off x="4800600" y="914400"/>
            <a:ext cx="4114800" cy="22602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d68236bfc0_3_20"/>
          <p:cNvSpPr/>
          <p:nvPr/>
        </p:nvSpPr>
        <p:spPr>
          <a:xfrm>
            <a:off x="4800600" y="914400"/>
            <a:ext cx="4114800" cy="347400"/>
          </a:xfrm>
          <a:prstGeom prst="rect">
            <a:avLst/>
          </a:prstGeom>
          <a:solidFill>
            <a:srgbClr val="EEF4E6"/>
          </a:solidFill>
          <a:ln cap="flat" cmpd="sng" w="12700">
            <a:solidFill>
              <a:srgbClr val="D0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3d68236bfc0_3_20"/>
          <p:cNvSpPr/>
          <p:nvPr/>
        </p:nvSpPr>
        <p:spPr>
          <a:xfrm>
            <a:off x="4937760" y="960120"/>
            <a:ext cx="384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lang="en-US" sz="1300">
                <a:solidFill>
                  <a:srgbClr val="2C5F2D"/>
                </a:solidFill>
                <a:latin typeface="Georgia"/>
                <a:ea typeface="Georgia"/>
                <a:cs typeface="Georgia"/>
                <a:sym typeface="Georgia"/>
              </a:rPr>
              <a:t>Table Breakdown</a:t>
            </a:r>
            <a:endParaRPr b="0" i="0" sz="1300" u="none" cap="none" strike="noStrike">
              <a:solidFill>
                <a:schemeClr val="dk1"/>
              </a:solidFill>
              <a:latin typeface="Calibri"/>
              <a:ea typeface="Calibri"/>
              <a:cs typeface="Calibri"/>
              <a:sym typeface="Calibri"/>
            </a:endParaRPr>
          </a:p>
        </p:txBody>
      </p:sp>
      <p:sp>
        <p:nvSpPr>
          <p:cNvPr id="123" name="Google Shape;123;g3d68236bfc0_3_20"/>
          <p:cNvSpPr/>
          <p:nvPr/>
        </p:nvSpPr>
        <p:spPr>
          <a:xfrm>
            <a:off x="4937760" y="1353312"/>
            <a:ext cx="3840600" cy="123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124" name="Google Shape;124;g3d68236bfc0_3_20"/>
          <p:cNvSpPr/>
          <p:nvPr/>
        </p:nvSpPr>
        <p:spPr>
          <a:xfrm>
            <a:off x="365750" y="3255299"/>
            <a:ext cx="4114800" cy="16287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d68236bfc0_3_20"/>
          <p:cNvSpPr/>
          <p:nvPr/>
        </p:nvSpPr>
        <p:spPr>
          <a:xfrm>
            <a:off x="365760" y="3255290"/>
            <a:ext cx="4114800" cy="347400"/>
          </a:xfrm>
          <a:prstGeom prst="rect">
            <a:avLst/>
          </a:prstGeom>
          <a:solidFill>
            <a:srgbClr val="EEF4E6"/>
          </a:solidFill>
          <a:ln cap="flat" cmpd="sng" w="12700">
            <a:solidFill>
              <a:srgbClr val="D0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d68236bfc0_3_20"/>
          <p:cNvSpPr/>
          <p:nvPr/>
        </p:nvSpPr>
        <p:spPr>
          <a:xfrm>
            <a:off x="443545" y="3291910"/>
            <a:ext cx="384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lang="en-US" sz="1300">
                <a:solidFill>
                  <a:srgbClr val="2C5F2D"/>
                </a:solidFill>
                <a:latin typeface="Georgia"/>
                <a:ea typeface="Georgia"/>
                <a:cs typeface="Georgia"/>
                <a:sym typeface="Georgia"/>
              </a:rPr>
              <a:t>Design Decisions</a:t>
            </a:r>
            <a:endParaRPr b="0" i="0" sz="1300" u="none" cap="none" strike="noStrike">
              <a:solidFill>
                <a:schemeClr val="dk1"/>
              </a:solidFill>
              <a:latin typeface="Calibri"/>
              <a:ea typeface="Calibri"/>
              <a:cs typeface="Calibri"/>
              <a:sym typeface="Calibri"/>
            </a:endParaRPr>
          </a:p>
        </p:txBody>
      </p:sp>
      <p:sp>
        <p:nvSpPr>
          <p:cNvPr id="127" name="Google Shape;127;g3d68236bfc0_3_20"/>
          <p:cNvSpPr/>
          <p:nvPr/>
        </p:nvSpPr>
        <p:spPr>
          <a:xfrm>
            <a:off x="365750" y="3602700"/>
            <a:ext cx="3977700" cy="12174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Passwords stored as hashed strings — never plaintext (pbkdf2:sha256)</a:t>
            </a:r>
            <a:endParaRPr sz="1100">
              <a:solidFill>
                <a:schemeClr val="dk1"/>
              </a:solidFill>
              <a:latin typeface="Calibri"/>
              <a:ea typeface="Calibri"/>
              <a:cs typeface="Calibri"/>
              <a:sym typeface="Calibri"/>
            </a:endParaRPr>
          </a:p>
          <a:p>
            <a:pPr indent="-298450" lvl="0" marL="457200" marR="0" rtl="0" algn="l">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ON DELETE CASCADE — deleting a user automatically clears their history</a:t>
            </a:r>
            <a:endParaRPr sz="1100">
              <a:solidFill>
                <a:schemeClr val="dk1"/>
              </a:solidFill>
              <a:latin typeface="Calibri"/>
              <a:ea typeface="Calibri"/>
              <a:cs typeface="Calibri"/>
              <a:sym typeface="Calibri"/>
            </a:endParaRPr>
          </a:p>
          <a:p>
            <a:pPr indent="-298450" lvl="0" marL="457200" marR="0" rtl="0" algn="l">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SERIAL PRIMARY KEY — auto-incrementing IDs on every table</a:t>
            </a:r>
            <a:endParaRPr sz="1100">
              <a:solidFill>
                <a:schemeClr val="dk1"/>
              </a:solidFill>
              <a:latin typeface="Calibri"/>
              <a:ea typeface="Calibri"/>
              <a:cs typeface="Calibri"/>
              <a:sym typeface="Calibri"/>
            </a:endParaRPr>
          </a:p>
          <a:p>
            <a:pPr indent="-298450" lvl="0" marL="457200" marR="0" rtl="0" algn="l">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UNIQUE constraints on username, email, and scientific name prevent duplicate records</a:t>
            </a:r>
            <a:endParaRPr sz="1100">
              <a:solidFill>
                <a:schemeClr val="dk1"/>
              </a:solidFill>
              <a:latin typeface="Calibri"/>
              <a:ea typeface="Calibri"/>
              <a:cs typeface="Calibri"/>
              <a:sym typeface="Calibri"/>
            </a:endParaRPr>
          </a:p>
        </p:txBody>
      </p:sp>
      <p:sp>
        <p:nvSpPr>
          <p:cNvPr id="128" name="Google Shape;128;g3d68236bfc0_3_20"/>
          <p:cNvSpPr/>
          <p:nvPr/>
        </p:nvSpPr>
        <p:spPr>
          <a:xfrm>
            <a:off x="4800650" y="3466473"/>
            <a:ext cx="4114800" cy="14175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d68236bfc0_3_20"/>
          <p:cNvSpPr/>
          <p:nvPr/>
        </p:nvSpPr>
        <p:spPr>
          <a:xfrm>
            <a:off x="4800650" y="3255290"/>
            <a:ext cx="4114800" cy="347400"/>
          </a:xfrm>
          <a:prstGeom prst="rect">
            <a:avLst/>
          </a:prstGeom>
          <a:solidFill>
            <a:srgbClr val="EEF4E6"/>
          </a:solidFill>
          <a:ln cap="flat" cmpd="sng" w="12700">
            <a:solidFill>
              <a:srgbClr val="D0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3d68236bfc0_3_20"/>
          <p:cNvSpPr/>
          <p:nvPr/>
        </p:nvSpPr>
        <p:spPr>
          <a:xfrm>
            <a:off x="4887110" y="3291910"/>
            <a:ext cx="384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lang="en-US" sz="1300">
                <a:solidFill>
                  <a:srgbClr val="2C5F2D"/>
                </a:solidFill>
                <a:latin typeface="Georgia"/>
                <a:ea typeface="Georgia"/>
                <a:cs typeface="Georgia"/>
                <a:sym typeface="Georgia"/>
              </a:rPr>
              <a:t>Integration with Flask</a:t>
            </a:r>
            <a:endParaRPr b="0" i="0" sz="1300" u="none" cap="none" strike="noStrike">
              <a:solidFill>
                <a:schemeClr val="dk1"/>
              </a:solidFill>
              <a:latin typeface="Calibri"/>
              <a:ea typeface="Calibri"/>
              <a:cs typeface="Calibri"/>
              <a:sym typeface="Calibri"/>
            </a:endParaRPr>
          </a:p>
        </p:txBody>
      </p:sp>
      <p:sp>
        <p:nvSpPr>
          <p:cNvPr id="131" name="Google Shape;131;g3d68236bfc0_3_20"/>
          <p:cNvSpPr/>
          <p:nvPr/>
        </p:nvSpPr>
        <p:spPr>
          <a:xfrm>
            <a:off x="4937750" y="3683275"/>
            <a:ext cx="3840600" cy="11367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All queries live in database/db.py</a:t>
            </a:r>
            <a:endParaRPr sz="1100">
              <a:solidFill>
                <a:schemeClr val="dk1"/>
              </a:solidFill>
              <a:latin typeface="Calibri"/>
              <a:ea typeface="Calibri"/>
              <a:cs typeface="Calibri"/>
              <a:sym typeface="Calibri"/>
            </a:endParaRPr>
          </a:p>
          <a:p>
            <a:pPr indent="-298450" lvl="0" marL="457200" marR="0" rtl="0" algn="l">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Connection configured via environment variables (DB_HOST, DB_NAME, DB_PASSWORD)</a:t>
            </a:r>
            <a:endParaRPr sz="1100">
              <a:solidFill>
                <a:schemeClr val="dk1"/>
              </a:solidFill>
              <a:latin typeface="Calibri"/>
              <a:ea typeface="Calibri"/>
              <a:cs typeface="Calibri"/>
              <a:sym typeface="Calibri"/>
            </a:endParaRPr>
          </a:p>
          <a:p>
            <a:pPr indent="-298450" lvl="0" marL="457200" marR="0" rtl="0" algn="l">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Called at three points in the app: login, upload/analyze, history page</a:t>
            </a:r>
            <a:endParaRPr sz="1100">
              <a:solidFill>
                <a:schemeClr val="dk1"/>
              </a:solidFill>
              <a:latin typeface="Calibri"/>
              <a:ea typeface="Calibri"/>
              <a:cs typeface="Calibri"/>
              <a:sym typeface="Calibri"/>
            </a:endParaRPr>
          </a:p>
        </p:txBody>
      </p:sp>
      <p:graphicFrame>
        <p:nvGraphicFramePr>
          <p:cNvPr id="132" name="Google Shape;132;g3d68236bfc0_3_20"/>
          <p:cNvGraphicFramePr/>
          <p:nvPr/>
        </p:nvGraphicFramePr>
        <p:xfrm>
          <a:off x="4809575" y="1354038"/>
          <a:ext cx="3000000" cy="3000000"/>
        </p:xfrm>
        <a:graphic>
          <a:graphicData uri="http://schemas.openxmlformats.org/drawingml/2006/table">
            <a:tbl>
              <a:tblPr>
                <a:noFill/>
                <a:tableStyleId>{7EB44A5A-05A9-4A3C-8815-F296D139B816}</a:tableStyleId>
              </a:tblPr>
              <a:tblGrid>
                <a:gridCol w="1170500"/>
                <a:gridCol w="2926350"/>
              </a:tblGrid>
              <a:tr h="192825">
                <a:tc>
                  <a:txBody>
                    <a:bodyPr/>
                    <a:lstStyle/>
                    <a:p>
                      <a:pPr indent="0" lvl="0" marL="0" rtl="0" algn="l">
                        <a:spcBef>
                          <a:spcPts val="0"/>
                        </a:spcBef>
                        <a:spcAft>
                          <a:spcPts val="0"/>
                        </a:spcAft>
                        <a:buNone/>
                      </a:pPr>
                      <a:r>
                        <a:rPr lang="en-US" sz="1200">
                          <a:latin typeface="Calibri"/>
                          <a:ea typeface="Calibri"/>
                          <a:cs typeface="Calibri"/>
                          <a:sym typeface="Calibri"/>
                        </a:rPr>
                        <a:t>TABLE</a:t>
                      </a:r>
                      <a:endParaRPr sz="1200">
                        <a:latin typeface="Calibri"/>
                        <a:ea typeface="Calibri"/>
                        <a:cs typeface="Calibri"/>
                        <a:sym typeface="Calibri"/>
                      </a:endParaRPr>
                    </a:p>
                  </a:txBody>
                  <a:tcPr marT="91425" marB="91425" marR="91425" marL="91425">
                    <a:lnL cap="flat" cmpd="sng" w="19050">
                      <a:solidFill>
                        <a:srgbClr val="2C5F2D"/>
                      </a:solidFill>
                      <a:prstDash val="solid"/>
                      <a:round/>
                      <a:headEnd len="sm" w="sm" type="none"/>
                      <a:tailEnd len="sm" w="sm" type="none"/>
                    </a:lnL>
                    <a:lnR cap="flat" cmpd="sng" w="38100">
                      <a:solidFill>
                        <a:srgbClr val="2C5F2D"/>
                      </a:solidFill>
                      <a:prstDash val="solid"/>
                      <a:round/>
                      <a:headEnd len="sm" w="sm" type="none"/>
                      <a:tailEnd len="sm" w="sm" type="none"/>
                    </a:lnR>
                    <a:lnT cap="flat" cmpd="sng" w="19050">
                      <a:solidFill>
                        <a:srgbClr val="2C5F2D"/>
                      </a:solidFill>
                      <a:prstDash val="solid"/>
                      <a:round/>
                      <a:headEnd len="sm" w="sm" type="none"/>
                      <a:tailEnd len="sm" w="sm" type="none"/>
                    </a:lnT>
                    <a:lnB cap="flat" cmpd="sng" w="38100">
                      <a:solidFill>
                        <a:srgbClr val="2C5F2D"/>
                      </a:solidFill>
                      <a:prstDash val="solid"/>
                      <a:round/>
                      <a:headEnd len="sm" w="sm" type="none"/>
                      <a:tailEnd len="sm" w="sm" type="none"/>
                    </a:lnB>
                  </a:tcPr>
                </a:tc>
                <a:tc>
                  <a:txBody>
                    <a:bodyPr/>
                    <a:lstStyle/>
                    <a:p>
                      <a:pPr indent="0" lvl="0" marL="0" rtl="0" algn="l">
                        <a:spcBef>
                          <a:spcPts val="0"/>
                        </a:spcBef>
                        <a:spcAft>
                          <a:spcPts val="0"/>
                        </a:spcAft>
                        <a:buNone/>
                      </a:pPr>
                      <a:r>
                        <a:rPr lang="en-US" sz="1200">
                          <a:latin typeface="Calibri"/>
                          <a:ea typeface="Calibri"/>
                          <a:cs typeface="Calibri"/>
                          <a:sym typeface="Calibri"/>
                        </a:rPr>
                        <a:t>KEY COLUMNS</a:t>
                      </a:r>
                      <a:endParaRPr sz="1200">
                        <a:latin typeface="Calibri"/>
                        <a:ea typeface="Calibri"/>
                        <a:cs typeface="Calibri"/>
                        <a:sym typeface="Calibri"/>
                      </a:endParaRPr>
                    </a:p>
                  </a:txBody>
                  <a:tcPr marT="91425" marB="91425" marR="91425" marL="91425">
                    <a:lnL cap="flat" cmpd="sng" w="38100">
                      <a:solidFill>
                        <a:srgbClr val="2C5F2D"/>
                      </a:solidFill>
                      <a:prstDash val="solid"/>
                      <a:round/>
                      <a:headEnd len="sm" w="sm" type="none"/>
                      <a:tailEnd len="sm" w="sm" type="none"/>
                    </a:lnL>
                    <a:lnR cap="flat" cmpd="sng" w="19050">
                      <a:solidFill>
                        <a:srgbClr val="2C5F2D"/>
                      </a:solidFill>
                      <a:prstDash val="solid"/>
                      <a:round/>
                      <a:headEnd len="sm" w="sm" type="none"/>
                      <a:tailEnd len="sm" w="sm" type="none"/>
                    </a:lnR>
                    <a:lnT cap="flat" cmpd="sng" w="19050">
                      <a:solidFill>
                        <a:srgbClr val="2C5F2D"/>
                      </a:solidFill>
                      <a:prstDash val="solid"/>
                      <a:round/>
                      <a:headEnd len="sm" w="sm" type="none"/>
                      <a:tailEnd len="sm" w="sm" type="none"/>
                    </a:lnT>
                    <a:lnB cap="flat" cmpd="sng" w="38100">
                      <a:solidFill>
                        <a:srgbClr val="2C5F2D"/>
                      </a:solidFill>
                      <a:prstDash val="solid"/>
                      <a:round/>
                      <a:headEnd len="sm" w="sm" type="none"/>
                      <a:tailEnd len="sm" w="sm" type="none"/>
                    </a:lnB>
                  </a:tcPr>
                </a:tc>
              </a:tr>
              <a:tr h="342225">
                <a:tc>
                  <a:txBody>
                    <a:bodyPr/>
                    <a:lstStyle/>
                    <a:p>
                      <a:pPr indent="0" lvl="0" marL="0" rtl="0" algn="l">
                        <a:spcBef>
                          <a:spcPts val="0"/>
                        </a:spcBef>
                        <a:spcAft>
                          <a:spcPts val="0"/>
                        </a:spcAft>
                        <a:buNone/>
                      </a:pPr>
                      <a:r>
                        <a:rPr b="1" lang="en-US" sz="1300">
                          <a:latin typeface="Courier New"/>
                          <a:ea typeface="Courier New"/>
                          <a:cs typeface="Courier New"/>
                          <a:sym typeface="Courier New"/>
                        </a:rPr>
                        <a:t>users</a:t>
                      </a:r>
                      <a:endParaRPr b="1" sz="1300">
                        <a:latin typeface="Courier New"/>
                        <a:ea typeface="Courier New"/>
                        <a:cs typeface="Courier New"/>
                        <a:sym typeface="Courier New"/>
                      </a:endParaRPr>
                    </a:p>
                  </a:txBody>
                  <a:tcPr marT="91425" marB="91425" marR="91425" marL="91425">
                    <a:lnL cap="flat" cmpd="sng" w="19050">
                      <a:solidFill>
                        <a:srgbClr val="2C5F2D"/>
                      </a:solidFill>
                      <a:prstDash val="solid"/>
                      <a:round/>
                      <a:headEnd len="sm" w="sm" type="none"/>
                      <a:tailEnd len="sm" w="sm" type="none"/>
                    </a:lnL>
                    <a:lnR cap="flat" cmpd="sng" w="38100">
                      <a:solidFill>
                        <a:srgbClr val="2C5F2D"/>
                      </a:solidFill>
                      <a:prstDash val="solid"/>
                      <a:round/>
                      <a:headEnd len="sm" w="sm" type="none"/>
                      <a:tailEnd len="sm" w="sm" type="none"/>
                    </a:lnR>
                    <a:lnT cap="flat" cmpd="sng" w="38100">
                      <a:solidFill>
                        <a:srgbClr val="2C5F2D"/>
                      </a:solidFill>
                      <a:prstDash val="solid"/>
                      <a:round/>
                      <a:headEnd len="sm" w="sm" type="none"/>
                      <a:tailEnd len="sm" w="sm" type="none"/>
                    </a:lnT>
                  </a:tcPr>
                </a:tc>
                <a:tc>
                  <a:txBody>
                    <a:bodyPr/>
                    <a:lstStyle/>
                    <a:p>
                      <a:pPr indent="0" lvl="0" marL="0" rtl="0" algn="l">
                        <a:spcBef>
                          <a:spcPts val="0"/>
                        </a:spcBef>
                        <a:spcAft>
                          <a:spcPts val="0"/>
                        </a:spcAft>
                        <a:buNone/>
                      </a:pPr>
                      <a:r>
                        <a:rPr lang="en-US" sz="900">
                          <a:latin typeface="Calibri"/>
                          <a:ea typeface="Calibri"/>
                          <a:cs typeface="Calibri"/>
                          <a:sym typeface="Calibri"/>
                        </a:rPr>
                        <a:t>id, username, email, password_hash, created_at</a:t>
                      </a:r>
                      <a:endParaRPr sz="900">
                        <a:latin typeface="Calibri"/>
                        <a:ea typeface="Calibri"/>
                        <a:cs typeface="Calibri"/>
                        <a:sym typeface="Calibri"/>
                      </a:endParaRPr>
                    </a:p>
                  </a:txBody>
                  <a:tcPr marT="91425" marB="91425" marR="91425" marL="91425">
                    <a:lnL cap="flat" cmpd="sng" w="38100">
                      <a:solidFill>
                        <a:srgbClr val="2C5F2D"/>
                      </a:solidFill>
                      <a:prstDash val="solid"/>
                      <a:round/>
                      <a:headEnd len="sm" w="sm" type="none"/>
                      <a:tailEnd len="sm" w="sm" type="none"/>
                    </a:lnL>
                    <a:lnR cap="flat" cmpd="sng" w="19050">
                      <a:solidFill>
                        <a:srgbClr val="2C5F2D"/>
                      </a:solidFill>
                      <a:prstDash val="solid"/>
                      <a:round/>
                      <a:headEnd len="sm" w="sm" type="none"/>
                      <a:tailEnd len="sm" w="sm" type="none"/>
                    </a:lnR>
                    <a:lnT cap="flat" cmpd="sng" w="38100">
                      <a:solidFill>
                        <a:srgbClr val="2C5F2D"/>
                      </a:solidFill>
                      <a:prstDash val="solid"/>
                      <a:round/>
                      <a:headEnd len="sm" w="sm" type="none"/>
                      <a:tailEnd len="sm" w="sm" type="none"/>
                    </a:lnT>
                  </a:tcPr>
                </a:tc>
              </a:tr>
              <a:tr h="407275">
                <a:tc>
                  <a:txBody>
                    <a:bodyPr/>
                    <a:lstStyle/>
                    <a:p>
                      <a:pPr indent="0" lvl="0" marL="0" rtl="0" algn="l">
                        <a:spcBef>
                          <a:spcPts val="0"/>
                        </a:spcBef>
                        <a:spcAft>
                          <a:spcPts val="0"/>
                        </a:spcAft>
                        <a:buNone/>
                      </a:pPr>
                      <a:r>
                        <a:rPr b="1" lang="en-US" sz="1000">
                          <a:latin typeface="Courier New"/>
                          <a:ea typeface="Courier New"/>
                          <a:cs typeface="Courier New"/>
                          <a:sym typeface="Courier New"/>
                        </a:rPr>
                        <a:t>bird_species</a:t>
                      </a:r>
                      <a:endParaRPr b="1" sz="1000">
                        <a:latin typeface="Courier New"/>
                        <a:ea typeface="Courier New"/>
                        <a:cs typeface="Courier New"/>
                        <a:sym typeface="Courier New"/>
                      </a:endParaRPr>
                    </a:p>
                  </a:txBody>
                  <a:tcPr marT="91425" marB="91425" marR="91425" marL="91425">
                    <a:lnL cap="flat" cmpd="sng" w="19050">
                      <a:solidFill>
                        <a:srgbClr val="2C5F2D"/>
                      </a:solidFill>
                      <a:prstDash val="solid"/>
                      <a:round/>
                      <a:headEnd len="sm" w="sm" type="none"/>
                      <a:tailEnd len="sm" w="sm" type="none"/>
                    </a:lnL>
                    <a:lnR cap="flat" cmpd="sng" w="38100">
                      <a:solidFill>
                        <a:srgbClr val="2C5F2D"/>
                      </a:solidFill>
                      <a:prstDash val="solid"/>
                      <a:round/>
                      <a:headEnd len="sm" w="sm" type="none"/>
                      <a:tailEnd len="sm" w="sm" type="none"/>
                    </a:lnR>
                  </a:tcPr>
                </a:tc>
                <a:tc>
                  <a:txBody>
                    <a:bodyPr/>
                    <a:lstStyle/>
                    <a:p>
                      <a:pPr indent="0" lvl="0" marL="0" rtl="0" algn="l">
                        <a:spcBef>
                          <a:spcPts val="0"/>
                        </a:spcBef>
                        <a:spcAft>
                          <a:spcPts val="0"/>
                        </a:spcAft>
                        <a:buNone/>
                      </a:pPr>
                      <a:r>
                        <a:rPr lang="en-US" sz="900">
                          <a:latin typeface="Calibri"/>
                          <a:ea typeface="Calibri"/>
                          <a:cs typeface="Calibri"/>
                          <a:sym typeface="Calibri"/>
                        </a:rPr>
                        <a:t>id, common_name, scientific_name, description, ref_audio_path, ref_image</a:t>
                      </a:r>
                      <a:endParaRPr sz="900">
                        <a:latin typeface="Calibri"/>
                        <a:ea typeface="Calibri"/>
                        <a:cs typeface="Calibri"/>
                        <a:sym typeface="Calibri"/>
                      </a:endParaRPr>
                    </a:p>
                  </a:txBody>
                  <a:tcPr marT="91425" marB="91425" marR="91425" marL="91425">
                    <a:lnL cap="flat" cmpd="sng" w="38100">
                      <a:solidFill>
                        <a:srgbClr val="2C5F2D"/>
                      </a:solidFill>
                      <a:prstDash val="solid"/>
                      <a:round/>
                      <a:headEnd len="sm" w="sm" type="none"/>
                      <a:tailEnd len="sm" w="sm" type="none"/>
                    </a:lnL>
                    <a:lnR cap="flat" cmpd="sng" w="19050">
                      <a:solidFill>
                        <a:srgbClr val="2C5F2D"/>
                      </a:solidFill>
                      <a:prstDash val="solid"/>
                      <a:round/>
                      <a:headEnd len="sm" w="sm" type="none"/>
                      <a:tailEnd len="sm" w="sm" type="none"/>
                    </a:lnR>
                  </a:tcPr>
                </a:tc>
              </a:tr>
              <a:tr h="407275">
                <a:tc>
                  <a:txBody>
                    <a:bodyPr/>
                    <a:lstStyle/>
                    <a:p>
                      <a:pPr indent="0" lvl="0" marL="0" rtl="0" algn="l">
                        <a:spcBef>
                          <a:spcPts val="0"/>
                        </a:spcBef>
                        <a:spcAft>
                          <a:spcPts val="0"/>
                        </a:spcAft>
                        <a:buNone/>
                      </a:pPr>
                      <a:r>
                        <a:rPr b="1" lang="en-US" sz="900">
                          <a:latin typeface="Courier New"/>
                          <a:ea typeface="Courier New"/>
                          <a:cs typeface="Courier New"/>
                          <a:sym typeface="Courier New"/>
                        </a:rPr>
                        <a:t>identification_history</a:t>
                      </a:r>
                      <a:endParaRPr b="1" sz="900">
                        <a:latin typeface="Courier New"/>
                        <a:ea typeface="Courier New"/>
                        <a:cs typeface="Courier New"/>
                        <a:sym typeface="Courier New"/>
                      </a:endParaRPr>
                    </a:p>
                  </a:txBody>
                  <a:tcPr marT="91425" marB="91425" marR="91425" marL="91425">
                    <a:lnL cap="flat" cmpd="sng" w="19050">
                      <a:solidFill>
                        <a:srgbClr val="2C5F2D"/>
                      </a:solidFill>
                      <a:prstDash val="solid"/>
                      <a:round/>
                      <a:headEnd len="sm" w="sm" type="none"/>
                      <a:tailEnd len="sm" w="sm" type="none"/>
                    </a:lnL>
                    <a:lnR cap="flat" cmpd="sng" w="38100">
                      <a:solidFill>
                        <a:srgbClr val="2C5F2D"/>
                      </a:solidFill>
                      <a:prstDash val="solid"/>
                      <a:round/>
                      <a:headEnd len="sm" w="sm" type="none"/>
                      <a:tailEnd len="sm" w="sm" type="none"/>
                    </a:lnR>
                    <a:lnB cap="flat" cmpd="sng" w="19050">
                      <a:solidFill>
                        <a:srgbClr val="2C5F2D"/>
                      </a:solidFill>
                      <a:prstDash val="solid"/>
                      <a:round/>
                      <a:headEnd len="sm" w="sm" type="none"/>
                      <a:tailEnd len="sm" w="sm" type="none"/>
                    </a:lnB>
                  </a:tcPr>
                </a:tc>
                <a:tc>
                  <a:txBody>
                    <a:bodyPr/>
                    <a:lstStyle/>
                    <a:p>
                      <a:pPr indent="0" lvl="0" marL="0" rtl="0" algn="l">
                        <a:spcBef>
                          <a:spcPts val="0"/>
                        </a:spcBef>
                        <a:spcAft>
                          <a:spcPts val="0"/>
                        </a:spcAft>
                        <a:buNone/>
                      </a:pPr>
                      <a:r>
                        <a:rPr lang="en-US" sz="900">
                          <a:latin typeface="Calibri"/>
                          <a:ea typeface="Calibri"/>
                          <a:cs typeface="Calibri"/>
                          <a:sym typeface="Calibri"/>
                        </a:rPr>
                        <a:t>id, user_id (FK), species_id (FK), confidence_score, upload_path, created_at</a:t>
                      </a:r>
                      <a:endParaRPr sz="900">
                        <a:latin typeface="Calibri"/>
                        <a:ea typeface="Calibri"/>
                        <a:cs typeface="Calibri"/>
                        <a:sym typeface="Calibri"/>
                      </a:endParaRPr>
                    </a:p>
                  </a:txBody>
                  <a:tcPr marT="91425" marB="91425" marR="91425" marL="91425">
                    <a:lnL cap="flat" cmpd="sng" w="38100">
                      <a:solidFill>
                        <a:srgbClr val="2C5F2D"/>
                      </a:solidFill>
                      <a:prstDash val="solid"/>
                      <a:round/>
                      <a:headEnd len="sm" w="sm" type="none"/>
                      <a:tailEnd len="sm" w="sm" type="none"/>
                    </a:lnL>
                    <a:lnR cap="flat" cmpd="sng" w="19050">
                      <a:solidFill>
                        <a:srgbClr val="2C5F2D"/>
                      </a:solidFill>
                      <a:prstDash val="solid"/>
                      <a:round/>
                      <a:headEnd len="sm" w="sm" type="none"/>
                      <a:tailEnd len="sm" w="sm" type="none"/>
                    </a:lnR>
                    <a:lnB cap="flat" cmpd="sng" w="19050">
                      <a:solidFill>
                        <a:srgbClr val="2C5F2D"/>
                      </a:solidFill>
                      <a:prstDash val="solid"/>
                      <a:round/>
                      <a:headEnd len="sm" w="sm" type="none"/>
                      <a:tailEnd len="sm" w="sm" type="none"/>
                    </a:lnB>
                  </a:tcPr>
                </a:tc>
              </a:tr>
            </a:tbl>
          </a:graphicData>
        </a:graphic>
      </p:graphicFrame>
      <p:pic>
        <p:nvPicPr>
          <p:cNvPr id="133" name="Google Shape;133;g3d68236bfc0_3_20"/>
          <p:cNvPicPr preferRelativeResize="0"/>
          <p:nvPr/>
        </p:nvPicPr>
        <p:blipFill>
          <a:blip r:embed="rId3">
            <a:alphaModFix/>
          </a:blip>
          <a:stretch>
            <a:fillRect/>
          </a:stretch>
        </p:blipFill>
        <p:spPr>
          <a:xfrm>
            <a:off x="365750" y="1556025"/>
            <a:ext cx="3977774" cy="15702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0"/>
        </a:solidFill>
      </p:bgPr>
    </p:bg>
    <p:spTree>
      <p:nvGrpSpPr>
        <p:cNvPr id="138" name="Shape 138"/>
        <p:cNvGrpSpPr/>
        <p:nvPr/>
      </p:nvGrpSpPr>
      <p:grpSpPr>
        <a:xfrm>
          <a:off x="0" y="0"/>
          <a:ext cx="0" cy="0"/>
          <a:chOff x="0" y="0"/>
          <a:chExt cx="0" cy="0"/>
        </a:xfrm>
      </p:grpSpPr>
      <p:sp>
        <p:nvSpPr>
          <p:cNvPr id="139" name="Google Shape;139;g3d68236bfc0_0_26"/>
          <p:cNvSpPr/>
          <p:nvPr/>
        </p:nvSpPr>
        <p:spPr>
          <a:xfrm>
            <a:off x="0" y="0"/>
            <a:ext cx="9144000" cy="68580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d68236bfc0_0_26"/>
          <p:cNvSpPr/>
          <p:nvPr/>
        </p:nvSpPr>
        <p:spPr>
          <a:xfrm>
            <a:off x="365760" y="0"/>
            <a:ext cx="64923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SPECTROGRAM GENERATION</a:t>
            </a:r>
            <a:endParaRPr b="0" i="0" sz="2000" u="none" cap="none" strike="noStrike">
              <a:solidFill>
                <a:schemeClr val="dk1"/>
              </a:solidFill>
              <a:latin typeface="Calibri"/>
              <a:ea typeface="Calibri"/>
              <a:cs typeface="Calibri"/>
              <a:sym typeface="Calibri"/>
            </a:endParaRPr>
          </a:p>
        </p:txBody>
      </p:sp>
      <p:sp>
        <p:nvSpPr>
          <p:cNvPr id="141" name="Google Shape;141;g3d68236bfc0_0_26"/>
          <p:cNvSpPr/>
          <p:nvPr/>
        </p:nvSpPr>
        <p:spPr>
          <a:xfrm>
            <a:off x="274320" y="868680"/>
            <a:ext cx="8595300" cy="896100"/>
          </a:xfrm>
          <a:prstGeom prst="rect">
            <a:avLst/>
          </a:prstGeom>
          <a:solidFill>
            <a:srgbClr val="FFFFFF"/>
          </a:solidFill>
          <a:ln cap="flat" cmpd="sng" w="12700">
            <a:solidFill>
              <a:srgbClr val="D0DCC0"/>
            </a:solidFill>
            <a:prstDash val="solid"/>
            <a:round/>
            <a:headEnd len="sm" w="sm" type="none"/>
            <a:tailEnd len="sm" w="sm" type="none"/>
          </a:ln>
          <a:effectLst>
            <a:outerShdw blurRad="38100" rotWithShape="0" algn="bl" dir="8100000" dist="254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d68236bfc0_0_26"/>
          <p:cNvSpPr/>
          <p:nvPr/>
        </p:nvSpPr>
        <p:spPr>
          <a:xfrm>
            <a:off x="274320" y="868680"/>
            <a:ext cx="91500" cy="896100"/>
          </a:xfrm>
          <a:prstGeom prst="rect">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d68236bfc0_0_26"/>
          <p:cNvSpPr/>
          <p:nvPr/>
        </p:nvSpPr>
        <p:spPr>
          <a:xfrm>
            <a:off x="457200" y="923544"/>
            <a:ext cx="2286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1  Load Audio</a:t>
            </a:r>
            <a:endParaRPr b="0" i="0" sz="1300" u="none" cap="none" strike="noStrike">
              <a:solidFill>
                <a:schemeClr val="dk1"/>
              </a:solidFill>
              <a:latin typeface="Calibri"/>
              <a:ea typeface="Calibri"/>
              <a:cs typeface="Calibri"/>
              <a:sym typeface="Calibri"/>
            </a:endParaRPr>
          </a:p>
        </p:txBody>
      </p:sp>
      <p:sp>
        <p:nvSpPr>
          <p:cNvPr id="144" name="Google Shape;144;g3d68236bfc0_0_26"/>
          <p:cNvSpPr/>
          <p:nvPr/>
        </p:nvSpPr>
        <p:spPr>
          <a:xfrm>
            <a:off x="457200" y="1216152"/>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onsolas"/>
              <a:buNone/>
            </a:pPr>
            <a:r>
              <a:rPr b="0" i="0" lang="en-US" sz="1000" u="none" cap="none" strike="noStrike">
                <a:solidFill>
                  <a:srgbClr val="555555"/>
                </a:solidFill>
                <a:latin typeface="Consolas"/>
                <a:ea typeface="Consolas"/>
                <a:cs typeface="Consolas"/>
                <a:sym typeface="Consolas"/>
              </a:rPr>
              <a:t>librosa.load(audio_path, sr=None)</a:t>
            </a:r>
            <a:endParaRPr b="0" i="0" sz="1000" u="none" cap="none" strike="noStrike">
              <a:solidFill>
                <a:schemeClr val="dk1"/>
              </a:solidFill>
              <a:latin typeface="Calibri"/>
              <a:ea typeface="Calibri"/>
              <a:cs typeface="Calibri"/>
              <a:sym typeface="Calibri"/>
            </a:endParaRPr>
          </a:p>
        </p:txBody>
      </p:sp>
      <p:sp>
        <p:nvSpPr>
          <p:cNvPr id="145" name="Google Shape;145;g3d68236bfc0_0_26"/>
          <p:cNvSpPr/>
          <p:nvPr/>
        </p:nvSpPr>
        <p:spPr>
          <a:xfrm>
            <a:off x="4754880" y="960120"/>
            <a:ext cx="3977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Loads the raw MP3 or WAV file preserving its native sample rate. Returns a numpy array of audio samples.</a:t>
            </a:r>
            <a:endParaRPr b="0" i="0" sz="1100" u="none" cap="none" strike="noStrike">
              <a:solidFill>
                <a:schemeClr val="dk1"/>
              </a:solidFill>
              <a:latin typeface="Calibri"/>
              <a:ea typeface="Calibri"/>
              <a:cs typeface="Calibri"/>
              <a:sym typeface="Calibri"/>
            </a:endParaRPr>
          </a:p>
        </p:txBody>
      </p:sp>
      <p:sp>
        <p:nvSpPr>
          <p:cNvPr id="146" name="Google Shape;146;g3d68236bfc0_0_26"/>
          <p:cNvSpPr/>
          <p:nvPr/>
        </p:nvSpPr>
        <p:spPr>
          <a:xfrm>
            <a:off x="274320" y="1874520"/>
            <a:ext cx="8595300" cy="896100"/>
          </a:xfrm>
          <a:prstGeom prst="rect">
            <a:avLst/>
          </a:prstGeom>
          <a:solidFill>
            <a:srgbClr val="FFFFFF"/>
          </a:solidFill>
          <a:ln cap="flat" cmpd="sng" w="12700">
            <a:solidFill>
              <a:srgbClr val="D0DCC0"/>
            </a:solidFill>
            <a:prstDash val="solid"/>
            <a:round/>
            <a:headEnd len="sm" w="sm" type="none"/>
            <a:tailEnd len="sm" w="sm" type="none"/>
          </a:ln>
          <a:effectLst>
            <a:outerShdw blurRad="38100" rotWithShape="0" algn="bl" dir="8100000" dist="254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d68236bfc0_0_26"/>
          <p:cNvSpPr/>
          <p:nvPr/>
        </p:nvSpPr>
        <p:spPr>
          <a:xfrm>
            <a:off x="274320" y="1874520"/>
            <a:ext cx="91500" cy="896100"/>
          </a:xfrm>
          <a:prstGeom prst="rect">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d68236bfc0_0_26"/>
          <p:cNvSpPr/>
          <p:nvPr/>
        </p:nvSpPr>
        <p:spPr>
          <a:xfrm>
            <a:off x="457200" y="1929384"/>
            <a:ext cx="2286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2  Mel-Spectrogram</a:t>
            </a:r>
            <a:endParaRPr b="0" i="0" sz="1300" u="none" cap="none" strike="noStrike">
              <a:solidFill>
                <a:schemeClr val="dk1"/>
              </a:solidFill>
              <a:latin typeface="Calibri"/>
              <a:ea typeface="Calibri"/>
              <a:cs typeface="Calibri"/>
              <a:sym typeface="Calibri"/>
            </a:endParaRPr>
          </a:p>
        </p:txBody>
      </p:sp>
      <p:sp>
        <p:nvSpPr>
          <p:cNvPr id="149" name="Google Shape;149;g3d68236bfc0_0_26"/>
          <p:cNvSpPr/>
          <p:nvPr/>
        </p:nvSpPr>
        <p:spPr>
          <a:xfrm>
            <a:off x="457200" y="2221992"/>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onsolas"/>
              <a:buNone/>
            </a:pPr>
            <a:r>
              <a:rPr b="0" i="0" lang="en-US" sz="1000" u="none" cap="none" strike="noStrike">
                <a:solidFill>
                  <a:srgbClr val="555555"/>
                </a:solidFill>
                <a:latin typeface="Consolas"/>
                <a:ea typeface="Consolas"/>
                <a:cs typeface="Consolas"/>
                <a:sym typeface="Consolas"/>
              </a:rPr>
              <a:t>librosa.feature.melspectrogram(y, sr, n_mels=128, fmax=8000)</a:t>
            </a:r>
            <a:endParaRPr b="0" i="0" sz="1000" u="none" cap="none" strike="noStrike">
              <a:solidFill>
                <a:schemeClr val="dk1"/>
              </a:solidFill>
              <a:latin typeface="Calibri"/>
              <a:ea typeface="Calibri"/>
              <a:cs typeface="Calibri"/>
              <a:sym typeface="Calibri"/>
            </a:endParaRPr>
          </a:p>
        </p:txBody>
      </p:sp>
      <p:sp>
        <p:nvSpPr>
          <p:cNvPr id="150" name="Google Shape;150;g3d68236bfc0_0_26"/>
          <p:cNvSpPr/>
          <p:nvPr/>
        </p:nvSpPr>
        <p:spPr>
          <a:xfrm>
            <a:off x="4754880" y="1965960"/>
            <a:ext cx="3977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Converts audio to a 2D array</a:t>
            </a:r>
            <a:r>
              <a:rPr lang="en-US" sz="1100">
                <a:solidFill>
                  <a:srgbClr val="444444"/>
                </a:solidFill>
                <a:latin typeface="Calibri"/>
                <a:ea typeface="Calibri"/>
                <a:cs typeface="Calibri"/>
                <a:sym typeface="Calibri"/>
              </a:rPr>
              <a:t>, </a:t>
            </a:r>
            <a:r>
              <a:rPr b="0" i="0" lang="en-US" sz="1100" u="none" cap="none" strike="noStrike">
                <a:solidFill>
                  <a:srgbClr val="444444"/>
                </a:solidFill>
                <a:latin typeface="Calibri"/>
                <a:ea typeface="Calibri"/>
                <a:cs typeface="Calibri"/>
                <a:sym typeface="Calibri"/>
              </a:rPr>
              <a:t>128 frequency bins × time frames. Standardized at n_mels=128 across all files. </a:t>
            </a:r>
            <a:r>
              <a:rPr lang="en-US" sz="1100">
                <a:solidFill>
                  <a:srgbClr val="444444"/>
                </a:solidFill>
                <a:latin typeface="Calibri"/>
                <a:ea typeface="Calibri"/>
                <a:cs typeface="Calibri"/>
                <a:sym typeface="Calibri"/>
              </a:rPr>
              <a:t>Called by user query to generate a spectrogram visual from the uploaded file.</a:t>
            </a:r>
            <a:endParaRPr b="0" i="0" sz="1100" u="none" cap="none" strike="noStrike">
              <a:solidFill>
                <a:schemeClr val="dk1"/>
              </a:solidFill>
              <a:latin typeface="Calibri"/>
              <a:ea typeface="Calibri"/>
              <a:cs typeface="Calibri"/>
              <a:sym typeface="Calibri"/>
            </a:endParaRPr>
          </a:p>
        </p:txBody>
      </p:sp>
      <p:sp>
        <p:nvSpPr>
          <p:cNvPr id="151" name="Google Shape;151;g3d68236bfc0_0_26"/>
          <p:cNvSpPr/>
          <p:nvPr/>
        </p:nvSpPr>
        <p:spPr>
          <a:xfrm>
            <a:off x="274320" y="2880360"/>
            <a:ext cx="8595300" cy="896100"/>
          </a:xfrm>
          <a:prstGeom prst="rect">
            <a:avLst/>
          </a:prstGeom>
          <a:solidFill>
            <a:srgbClr val="FFFFFF"/>
          </a:solidFill>
          <a:ln cap="flat" cmpd="sng" w="12700">
            <a:solidFill>
              <a:srgbClr val="D0DCC0"/>
            </a:solidFill>
            <a:prstDash val="solid"/>
            <a:round/>
            <a:headEnd len="sm" w="sm" type="none"/>
            <a:tailEnd len="sm" w="sm" type="none"/>
          </a:ln>
          <a:effectLst>
            <a:outerShdw blurRad="38100" rotWithShape="0" algn="bl" dir="8100000" dist="254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d68236bfc0_0_26"/>
          <p:cNvSpPr/>
          <p:nvPr/>
        </p:nvSpPr>
        <p:spPr>
          <a:xfrm>
            <a:off x="274320" y="2880360"/>
            <a:ext cx="91500" cy="896100"/>
          </a:xfrm>
          <a:prstGeom prst="rect">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d68236bfc0_0_26"/>
          <p:cNvSpPr/>
          <p:nvPr/>
        </p:nvSpPr>
        <p:spPr>
          <a:xfrm>
            <a:off x="457200" y="2935224"/>
            <a:ext cx="2286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3  Log Scale</a:t>
            </a:r>
            <a:endParaRPr b="0" i="0" sz="1300" u="none" cap="none" strike="noStrike">
              <a:solidFill>
                <a:schemeClr val="dk1"/>
              </a:solidFill>
              <a:latin typeface="Calibri"/>
              <a:ea typeface="Calibri"/>
              <a:cs typeface="Calibri"/>
              <a:sym typeface="Calibri"/>
            </a:endParaRPr>
          </a:p>
        </p:txBody>
      </p:sp>
      <p:sp>
        <p:nvSpPr>
          <p:cNvPr id="154" name="Google Shape;154;g3d68236bfc0_0_26"/>
          <p:cNvSpPr/>
          <p:nvPr/>
        </p:nvSpPr>
        <p:spPr>
          <a:xfrm>
            <a:off x="457200" y="3227832"/>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onsolas"/>
              <a:buNone/>
            </a:pPr>
            <a:r>
              <a:rPr b="0" i="0" lang="en-US" sz="1000" u="none" cap="none" strike="noStrike">
                <a:solidFill>
                  <a:srgbClr val="555555"/>
                </a:solidFill>
                <a:latin typeface="Consolas"/>
                <a:ea typeface="Consolas"/>
                <a:cs typeface="Consolas"/>
                <a:sym typeface="Consolas"/>
              </a:rPr>
              <a:t>librosa.power_to_db(S, ref=np.max)</a:t>
            </a:r>
            <a:endParaRPr b="0" i="0" sz="1000" u="none" cap="none" strike="noStrike">
              <a:solidFill>
                <a:schemeClr val="dk1"/>
              </a:solidFill>
              <a:latin typeface="Calibri"/>
              <a:ea typeface="Calibri"/>
              <a:cs typeface="Calibri"/>
              <a:sym typeface="Calibri"/>
            </a:endParaRPr>
          </a:p>
        </p:txBody>
      </p:sp>
      <p:sp>
        <p:nvSpPr>
          <p:cNvPr id="155" name="Google Shape;155;g3d68236bfc0_0_26"/>
          <p:cNvSpPr/>
          <p:nvPr/>
        </p:nvSpPr>
        <p:spPr>
          <a:xfrm>
            <a:off x="4754880" y="2971800"/>
            <a:ext cx="3977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Converts power values to decibels. Makes patterns more image-like and consistent across recordings.</a:t>
            </a:r>
            <a:endParaRPr b="0" i="0" sz="1100" u="none" cap="none" strike="noStrike">
              <a:solidFill>
                <a:schemeClr val="dk1"/>
              </a:solidFill>
              <a:latin typeface="Calibri"/>
              <a:ea typeface="Calibri"/>
              <a:cs typeface="Calibri"/>
              <a:sym typeface="Calibri"/>
            </a:endParaRPr>
          </a:p>
        </p:txBody>
      </p:sp>
      <p:sp>
        <p:nvSpPr>
          <p:cNvPr id="156" name="Google Shape;156;g3d68236bfc0_0_26"/>
          <p:cNvSpPr/>
          <p:nvPr/>
        </p:nvSpPr>
        <p:spPr>
          <a:xfrm>
            <a:off x="274320" y="3886200"/>
            <a:ext cx="8595300" cy="896100"/>
          </a:xfrm>
          <a:prstGeom prst="rect">
            <a:avLst/>
          </a:prstGeom>
          <a:solidFill>
            <a:srgbClr val="FFFFFF"/>
          </a:solidFill>
          <a:ln cap="flat" cmpd="sng" w="12700">
            <a:solidFill>
              <a:srgbClr val="D0DCC0"/>
            </a:solidFill>
            <a:prstDash val="solid"/>
            <a:round/>
            <a:headEnd len="sm" w="sm" type="none"/>
            <a:tailEnd len="sm" w="sm" type="none"/>
          </a:ln>
          <a:effectLst>
            <a:outerShdw blurRad="38100" rotWithShape="0" algn="bl" dir="8100000" dist="254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d68236bfc0_0_26"/>
          <p:cNvSpPr/>
          <p:nvPr/>
        </p:nvSpPr>
        <p:spPr>
          <a:xfrm>
            <a:off x="274320" y="3886200"/>
            <a:ext cx="91500" cy="896100"/>
          </a:xfrm>
          <a:prstGeom prst="rect">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d68236bfc0_0_26"/>
          <p:cNvSpPr/>
          <p:nvPr/>
        </p:nvSpPr>
        <p:spPr>
          <a:xfrm>
            <a:off x="457200" y="3941064"/>
            <a:ext cx="2286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4  Normalize</a:t>
            </a:r>
            <a:endParaRPr b="0" i="0" sz="1300" u="none" cap="none" strike="noStrike">
              <a:solidFill>
                <a:schemeClr val="dk1"/>
              </a:solidFill>
              <a:latin typeface="Calibri"/>
              <a:ea typeface="Calibri"/>
              <a:cs typeface="Calibri"/>
              <a:sym typeface="Calibri"/>
            </a:endParaRPr>
          </a:p>
        </p:txBody>
      </p:sp>
      <p:sp>
        <p:nvSpPr>
          <p:cNvPr id="159" name="Google Shape;159;g3d68236bfc0_0_26"/>
          <p:cNvSpPr/>
          <p:nvPr/>
        </p:nvSpPr>
        <p:spPr>
          <a:xfrm>
            <a:off x="457200" y="4233672"/>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onsolas"/>
              <a:buNone/>
            </a:pPr>
            <a:r>
              <a:rPr b="0" i="0" lang="en-US" sz="1000" u="none" cap="none" strike="noStrike">
                <a:solidFill>
                  <a:srgbClr val="555555"/>
                </a:solidFill>
                <a:latin typeface="Consolas"/>
                <a:ea typeface="Consolas"/>
                <a:cs typeface="Consolas"/>
                <a:sym typeface="Consolas"/>
              </a:rPr>
              <a:t>(S_db - min) / (max - min)</a:t>
            </a:r>
            <a:endParaRPr b="0" i="0" sz="1000" u="none" cap="none" strike="noStrike">
              <a:solidFill>
                <a:schemeClr val="dk1"/>
              </a:solidFill>
              <a:latin typeface="Calibri"/>
              <a:ea typeface="Calibri"/>
              <a:cs typeface="Calibri"/>
              <a:sym typeface="Calibri"/>
            </a:endParaRPr>
          </a:p>
        </p:txBody>
      </p:sp>
      <p:sp>
        <p:nvSpPr>
          <p:cNvPr id="160" name="Google Shape;160;g3d68236bfc0_0_26"/>
          <p:cNvSpPr/>
          <p:nvPr/>
        </p:nvSpPr>
        <p:spPr>
          <a:xfrm>
            <a:off x="4754880" y="3977640"/>
            <a:ext cx="3977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Added by Jake in dataset_builder.py. Scales values 0</a:t>
            </a:r>
            <a:r>
              <a:rPr lang="en-US" sz="1100">
                <a:solidFill>
                  <a:srgbClr val="444444"/>
                </a:solidFill>
                <a:latin typeface="Calibri"/>
                <a:ea typeface="Calibri"/>
                <a:cs typeface="Calibri"/>
                <a:sym typeface="Calibri"/>
              </a:rPr>
              <a:t> to </a:t>
            </a:r>
            <a:r>
              <a:rPr b="0" i="0" lang="en-US" sz="1100" u="none" cap="none" strike="noStrike">
                <a:solidFill>
                  <a:srgbClr val="444444"/>
                </a:solidFill>
                <a:latin typeface="Calibri"/>
                <a:ea typeface="Calibri"/>
                <a:cs typeface="Calibri"/>
                <a:sym typeface="Calibri"/>
              </a:rPr>
              <a:t>1 before saving as .npy for consistency with neural network training.</a:t>
            </a:r>
            <a:endParaRPr b="0" i="0" sz="1100" u="none" cap="none" strike="noStrike">
              <a:solidFill>
                <a:schemeClr val="dk1"/>
              </a:solidFill>
              <a:latin typeface="Calibri"/>
              <a:ea typeface="Calibri"/>
              <a:cs typeface="Calibri"/>
              <a:sym typeface="Calibri"/>
            </a:endParaRPr>
          </a:p>
        </p:txBody>
      </p:sp>
      <p:sp>
        <p:nvSpPr>
          <p:cNvPr id="161" name="Google Shape;161;g3d68236bfc0_0_26"/>
          <p:cNvSpPr/>
          <p:nvPr/>
        </p:nvSpPr>
        <p:spPr>
          <a:xfrm>
            <a:off x="274320" y="4892040"/>
            <a:ext cx="8595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BFA8"/>
              </a:buClr>
              <a:buSzPts val="1000"/>
              <a:buFont typeface="Calibri"/>
              <a:buNone/>
            </a:pPr>
            <a:r>
              <a:rPr b="0" i="1" lang="en-US" sz="1000" u="none" cap="none" strike="noStrike">
                <a:solidFill>
                  <a:srgbClr val="A8BFA8"/>
                </a:solidFill>
                <a:latin typeface="Calibri"/>
                <a:ea typeface="Calibri"/>
                <a:cs typeface="Calibri"/>
                <a:sym typeface="Calibri"/>
              </a:rPr>
              <a:t>In Approach 2, output feeds into Jake's dataset_builder.py as pre-saved .npy files rather than passing directly to the ranker</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0"/>
        </a:solidFill>
      </p:bgPr>
    </p:bg>
    <p:spTree>
      <p:nvGrpSpPr>
        <p:cNvPr id="166" name="Shape 166"/>
        <p:cNvGrpSpPr/>
        <p:nvPr/>
      </p:nvGrpSpPr>
      <p:grpSpPr>
        <a:xfrm>
          <a:off x="0" y="0"/>
          <a:ext cx="0" cy="0"/>
          <a:chOff x="0" y="0"/>
          <a:chExt cx="0" cy="0"/>
        </a:xfrm>
      </p:grpSpPr>
      <p:sp>
        <p:nvSpPr>
          <p:cNvPr id="167" name="Google Shape;167;g3d68236bfc0_0_55"/>
          <p:cNvSpPr/>
          <p:nvPr/>
        </p:nvSpPr>
        <p:spPr>
          <a:xfrm>
            <a:off x="0" y="0"/>
            <a:ext cx="9144000" cy="68580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d68236bfc0_0_55"/>
          <p:cNvSpPr/>
          <p:nvPr/>
        </p:nvSpPr>
        <p:spPr>
          <a:xfrm>
            <a:off x="365760" y="0"/>
            <a:ext cx="64923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APPROACH 1 AS BASELINE — SIMILARITY RANKER</a:t>
            </a:r>
            <a:endParaRPr b="0" i="0" sz="2000" u="none" cap="none" strike="noStrike">
              <a:solidFill>
                <a:schemeClr val="dk1"/>
              </a:solidFill>
              <a:latin typeface="Calibri"/>
              <a:ea typeface="Calibri"/>
              <a:cs typeface="Calibri"/>
              <a:sym typeface="Calibri"/>
            </a:endParaRPr>
          </a:p>
        </p:txBody>
      </p:sp>
      <p:sp>
        <p:nvSpPr>
          <p:cNvPr id="169" name="Google Shape;169;g3d68236bfc0_0_55"/>
          <p:cNvSpPr/>
          <p:nvPr/>
        </p:nvSpPr>
        <p:spPr>
          <a:xfrm>
            <a:off x="274320" y="868680"/>
            <a:ext cx="4023300" cy="40233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d68236bfc0_0_55"/>
          <p:cNvSpPr/>
          <p:nvPr/>
        </p:nvSpPr>
        <p:spPr>
          <a:xfrm>
            <a:off x="457200" y="960120"/>
            <a:ext cx="365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400"/>
              <a:buFont typeface="Georgia"/>
              <a:buNone/>
            </a:pPr>
            <a:r>
              <a:rPr b="1" i="0" lang="en-US" sz="1400" u="none" cap="none" strike="noStrike">
                <a:solidFill>
                  <a:srgbClr val="2C5F2D"/>
                </a:solidFill>
                <a:latin typeface="Georgia"/>
                <a:ea typeface="Georgia"/>
                <a:cs typeface="Georgia"/>
                <a:sym typeface="Georgia"/>
              </a:rPr>
              <a:t>How the Ranker Works</a:t>
            </a:r>
            <a:endParaRPr b="0" i="0" sz="1400" u="none" cap="none" strike="noStrike">
              <a:solidFill>
                <a:schemeClr val="dk1"/>
              </a:solidFill>
              <a:latin typeface="Calibri"/>
              <a:ea typeface="Calibri"/>
              <a:cs typeface="Calibri"/>
              <a:sym typeface="Calibri"/>
            </a:endParaRPr>
          </a:p>
        </p:txBody>
      </p:sp>
      <p:sp>
        <p:nvSpPr>
          <p:cNvPr id="171" name="Google Shape;171;g3d68236bfc0_0_55"/>
          <p:cNvSpPr/>
          <p:nvPr/>
        </p:nvSpPr>
        <p:spPr>
          <a:xfrm>
            <a:off x="457200" y="1371600"/>
            <a:ext cx="3657600" cy="2560200"/>
          </a:xfrm>
          <a:prstGeom prst="rect">
            <a:avLst/>
          </a:prstGeom>
          <a:noFill/>
          <a:ln>
            <a:noFill/>
          </a:ln>
        </p:spPr>
        <p:txBody>
          <a:bodyPr anchorCtr="0" anchor="t" bIns="0" lIns="0" spcFirstLastPara="1" rIns="0" wrap="square" tIns="0">
            <a:noAutofit/>
          </a:bodyPr>
          <a:lstStyle/>
          <a:p>
            <a:pPr indent="-355600" lvl="0" marL="342900" marR="0" rtl="0" algn="l">
              <a:spcBef>
                <a:spcPts val="0"/>
              </a:spcBef>
              <a:spcAft>
                <a:spcPts val="0"/>
              </a:spcAft>
              <a:buClr>
                <a:srgbClr val="333333"/>
              </a:buClr>
              <a:buSzPts val="1400"/>
              <a:buFont typeface="Calibri"/>
              <a:buChar char="•"/>
            </a:pPr>
            <a:r>
              <a:rPr b="0" i="0" lang="en-US" u="none" cap="none" strike="noStrike">
                <a:solidFill>
                  <a:srgbClr val="333333"/>
                </a:solidFill>
                <a:latin typeface="Calibri"/>
                <a:ea typeface="Calibri"/>
                <a:cs typeface="Calibri"/>
                <a:sym typeface="Calibri"/>
              </a:rPr>
              <a:t>Normalize both spectrograms to 0–1 scale</a:t>
            </a:r>
            <a:endParaRPr b="0" i="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400"/>
              <a:buFont typeface="Calibri"/>
              <a:buChar char="•"/>
            </a:pPr>
            <a:r>
              <a:rPr b="0" i="0" lang="en-US" u="none" cap="none" strike="noStrike">
                <a:solidFill>
                  <a:srgbClr val="333333"/>
                </a:solidFill>
                <a:latin typeface="Calibri"/>
                <a:ea typeface="Calibri"/>
                <a:cs typeface="Calibri"/>
                <a:sym typeface="Calibri"/>
              </a:rPr>
              <a:t>Crop to matching dimensions</a:t>
            </a:r>
            <a:endParaRPr b="0" i="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400"/>
              <a:buFont typeface="Calibri"/>
              <a:buChar char="•"/>
            </a:pPr>
            <a:r>
              <a:rPr b="0" i="0" lang="en-US" u="none" cap="none" strike="noStrike">
                <a:solidFill>
                  <a:srgbClr val="333333"/>
                </a:solidFill>
                <a:latin typeface="Calibri"/>
                <a:ea typeface="Calibri"/>
                <a:cs typeface="Calibri"/>
                <a:sym typeface="Calibri"/>
              </a:rPr>
              <a:t>Flatten 2D arrays to 1D and run scipy cross-correlation</a:t>
            </a:r>
            <a:endParaRPr b="0" i="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400"/>
              <a:buFont typeface="Calibri"/>
              <a:buChar char="•"/>
            </a:pPr>
            <a:r>
              <a:rPr b="0" i="0" lang="en-US" u="none" cap="none" strike="noStrike">
                <a:solidFill>
                  <a:srgbClr val="333333"/>
                </a:solidFill>
                <a:latin typeface="Calibri"/>
                <a:ea typeface="Calibri"/>
                <a:cs typeface="Calibri"/>
                <a:sym typeface="Calibri"/>
              </a:rPr>
              <a:t>Peak correlation value = similarity score</a:t>
            </a:r>
            <a:endParaRPr b="0" i="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400"/>
              <a:buFont typeface="Calibri"/>
              <a:buChar char="•"/>
            </a:pPr>
            <a:r>
              <a:rPr b="0" i="0" lang="en-US" u="none" cap="none" strike="noStrike">
                <a:solidFill>
                  <a:srgbClr val="333333"/>
                </a:solidFill>
                <a:latin typeface="Calibri"/>
                <a:ea typeface="Calibri"/>
                <a:cs typeface="Calibri"/>
                <a:sym typeface="Calibri"/>
              </a:rPr>
              <a:t>Average across all reference recordings per bird</a:t>
            </a:r>
            <a:endParaRPr b="0" i="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400"/>
              <a:buFont typeface="Calibri"/>
              <a:buChar char="•"/>
            </a:pPr>
            <a:r>
              <a:rPr b="0" i="0" lang="en-US" u="none" cap="none" strike="noStrike">
                <a:solidFill>
                  <a:srgbClr val="333333"/>
                </a:solidFill>
                <a:latin typeface="Calibri"/>
                <a:ea typeface="Calibri"/>
                <a:cs typeface="Calibri"/>
                <a:sym typeface="Calibri"/>
              </a:rPr>
              <a:t>Sort birds by average score — highest first</a:t>
            </a:r>
            <a:endParaRPr b="0" i="0" u="none" cap="none" strike="noStrike">
              <a:solidFill>
                <a:schemeClr val="dk1"/>
              </a:solidFill>
              <a:latin typeface="Calibri"/>
              <a:ea typeface="Calibri"/>
              <a:cs typeface="Calibri"/>
              <a:sym typeface="Calibri"/>
            </a:endParaRPr>
          </a:p>
        </p:txBody>
      </p:sp>
      <p:sp>
        <p:nvSpPr>
          <p:cNvPr id="172" name="Google Shape;172;g3d68236bfc0_0_55"/>
          <p:cNvSpPr/>
          <p:nvPr/>
        </p:nvSpPr>
        <p:spPr>
          <a:xfrm>
            <a:off x="457200" y="3703320"/>
            <a:ext cx="3474600" cy="868800"/>
          </a:xfrm>
          <a:prstGeom prst="rect">
            <a:avLst/>
          </a:prstGeom>
          <a:solidFill>
            <a:srgbClr val="EEF4E6"/>
          </a:solidFill>
          <a:ln cap="flat" cmpd="sng" w="12700">
            <a:solidFill>
              <a:srgbClr val="C4D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d68236bfc0_0_55"/>
          <p:cNvSpPr/>
          <p:nvPr/>
        </p:nvSpPr>
        <p:spPr>
          <a:xfrm>
            <a:off x="594360" y="3767328"/>
            <a:ext cx="3200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alibri"/>
              <a:buNone/>
            </a:pPr>
            <a:r>
              <a:rPr b="1" i="0" lang="en-US" sz="1000" u="none" cap="none" strike="noStrike">
                <a:solidFill>
                  <a:srgbClr val="2C5F2D"/>
                </a:solidFill>
                <a:latin typeface="Calibri"/>
                <a:ea typeface="Calibri"/>
                <a:cs typeface="Calibri"/>
                <a:sym typeface="Calibri"/>
              </a:rPr>
              <a:t>Result format passed to Stephen's UI:</a:t>
            </a:r>
            <a:endParaRPr b="0" i="0" sz="1000" u="none" cap="none" strike="noStrike">
              <a:solidFill>
                <a:schemeClr val="dk1"/>
              </a:solidFill>
              <a:latin typeface="Calibri"/>
              <a:ea typeface="Calibri"/>
              <a:cs typeface="Calibri"/>
              <a:sym typeface="Calibri"/>
            </a:endParaRPr>
          </a:p>
        </p:txBody>
      </p:sp>
      <p:sp>
        <p:nvSpPr>
          <p:cNvPr id="174" name="Google Shape;174;g3d68236bfc0_0_55"/>
          <p:cNvSpPr/>
          <p:nvPr/>
        </p:nvSpPr>
        <p:spPr>
          <a:xfrm>
            <a:off x="594360" y="4005072"/>
            <a:ext cx="3200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900"/>
              <a:buFont typeface="Consolas"/>
              <a:buNone/>
            </a:pPr>
            <a:r>
              <a:rPr b="0" i="0" lang="en-US" sz="900" u="none" cap="none" strike="noStrike">
                <a:solidFill>
                  <a:srgbClr val="444444"/>
                </a:solidFill>
                <a:latin typeface="Consolas"/>
                <a:ea typeface="Consolas"/>
                <a:cs typeface="Consolas"/>
                <a:sym typeface="Consolas"/>
              </a:rPr>
              <a:t>[{"rank": 1, "bird": "american_robin", "score": 26863.4}]</a:t>
            </a:r>
            <a:endParaRPr b="0" i="0" sz="900" u="none" cap="none" strike="noStrike">
              <a:solidFill>
                <a:schemeClr val="dk1"/>
              </a:solidFill>
              <a:latin typeface="Calibri"/>
              <a:ea typeface="Calibri"/>
              <a:cs typeface="Calibri"/>
              <a:sym typeface="Calibri"/>
            </a:endParaRPr>
          </a:p>
        </p:txBody>
      </p:sp>
      <p:sp>
        <p:nvSpPr>
          <p:cNvPr id="175" name="Google Shape;175;g3d68236bfc0_0_55"/>
          <p:cNvSpPr/>
          <p:nvPr/>
        </p:nvSpPr>
        <p:spPr>
          <a:xfrm>
            <a:off x="4663440" y="868680"/>
            <a:ext cx="4206300" cy="40233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g3d68236bfc0_0_55"/>
          <p:cNvSpPr/>
          <p:nvPr/>
        </p:nvSpPr>
        <p:spPr>
          <a:xfrm>
            <a:off x="4846320" y="960120"/>
            <a:ext cx="3840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400"/>
              <a:buFont typeface="Georgia"/>
              <a:buNone/>
            </a:pPr>
            <a:r>
              <a:rPr b="1" i="0" lang="en-US" sz="1400" u="none" cap="none" strike="noStrike">
                <a:solidFill>
                  <a:srgbClr val="2C5F2D"/>
                </a:solidFill>
                <a:latin typeface="Georgia"/>
                <a:ea typeface="Georgia"/>
                <a:cs typeface="Georgia"/>
                <a:sym typeface="Georgia"/>
              </a:rPr>
              <a:t>Why the Neural Network is Better</a:t>
            </a:r>
            <a:endParaRPr b="0" i="0" sz="1400" u="none" cap="none" strike="noStrike">
              <a:solidFill>
                <a:schemeClr val="dk1"/>
              </a:solidFill>
              <a:latin typeface="Calibri"/>
              <a:ea typeface="Calibri"/>
              <a:cs typeface="Calibri"/>
              <a:sym typeface="Calibri"/>
            </a:endParaRPr>
          </a:p>
        </p:txBody>
      </p:sp>
      <p:sp>
        <p:nvSpPr>
          <p:cNvPr id="177" name="Google Shape;177;g3d68236bfc0_0_55"/>
          <p:cNvSpPr/>
          <p:nvPr/>
        </p:nvSpPr>
        <p:spPr>
          <a:xfrm>
            <a:off x="4846320" y="1371600"/>
            <a:ext cx="914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Georgia"/>
              <a:buNone/>
            </a:pPr>
            <a:r>
              <a:rPr b="1" i="0" lang="en-US" sz="1100" u="none" cap="none" strike="noStrike">
                <a:solidFill>
                  <a:srgbClr val="2C5F2D"/>
                </a:solidFill>
                <a:latin typeface="Georgia"/>
                <a:ea typeface="Georgia"/>
                <a:cs typeface="Georgia"/>
                <a:sym typeface="Georgia"/>
              </a:rPr>
              <a:t>Accuracy</a:t>
            </a:r>
            <a:endParaRPr b="0" i="0" sz="1100" u="none" cap="none" strike="noStrike">
              <a:solidFill>
                <a:schemeClr val="dk1"/>
              </a:solidFill>
              <a:latin typeface="Calibri"/>
              <a:ea typeface="Calibri"/>
              <a:cs typeface="Calibri"/>
              <a:sym typeface="Calibri"/>
            </a:endParaRPr>
          </a:p>
        </p:txBody>
      </p:sp>
      <p:sp>
        <p:nvSpPr>
          <p:cNvPr id="178" name="Google Shape;178;g3d68236bfc0_0_55"/>
          <p:cNvSpPr/>
          <p:nvPr/>
        </p:nvSpPr>
        <p:spPr>
          <a:xfrm>
            <a:off x="4846320" y="1645920"/>
            <a:ext cx="1645800" cy="411600"/>
          </a:xfrm>
          <a:prstGeom prst="rect">
            <a:avLst/>
          </a:prstGeom>
          <a:solidFill>
            <a:srgbClr val="F5EEE6"/>
          </a:solidFill>
          <a:ln cap="flat" cmpd="sng" w="12700">
            <a:solidFill>
              <a:srgbClr val="E0C8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d68236bfc0_0_55"/>
          <p:cNvSpPr/>
          <p:nvPr/>
        </p:nvSpPr>
        <p:spPr>
          <a:xfrm>
            <a:off x="4892040" y="1664208"/>
            <a:ext cx="155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5533"/>
              </a:buClr>
              <a:buSzPts val="900"/>
              <a:buFont typeface="Calibri"/>
              <a:buNone/>
            </a:pPr>
            <a:r>
              <a:rPr b="0" i="0" lang="en-US" sz="900" u="none" cap="none" strike="noStrike">
                <a:solidFill>
                  <a:srgbClr val="775533"/>
                </a:solidFill>
                <a:latin typeface="Calibri"/>
                <a:ea typeface="Calibri"/>
                <a:cs typeface="Calibri"/>
                <a:sym typeface="Calibri"/>
              </a:rPr>
              <a:t>Raw signal overlap. </a:t>
            </a:r>
            <a:r>
              <a:rPr lang="en-US" sz="900">
                <a:solidFill>
                  <a:srgbClr val="775533"/>
                </a:solidFill>
                <a:latin typeface="Calibri"/>
                <a:ea typeface="Calibri"/>
                <a:cs typeface="Calibri"/>
                <a:sym typeface="Calibri"/>
              </a:rPr>
              <a:t>Recordings with closer mel-bin clusters (monotone) score higher</a:t>
            </a:r>
            <a:r>
              <a:rPr b="0" i="0" lang="en-US" sz="900" u="none" cap="none" strike="noStrike">
                <a:solidFill>
                  <a:srgbClr val="775533"/>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80" name="Google Shape;180;g3d68236bfc0_0_55"/>
          <p:cNvSpPr/>
          <p:nvPr/>
        </p:nvSpPr>
        <p:spPr>
          <a:xfrm>
            <a:off x="6629400" y="1645920"/>
            <a:ext cx="2103000" cy="411600"/>
          </a:xfrm>
          <a:prstGeom prst="rect">
            <a:avLst/>
          </a:prstGeom>
          <a:solidFill>
            <a:srgbClr val="EEF4E6"/>
          </a:solidFill>
          <a:ln cap="flat" cmpd="sng" w="12700">
            <a:solidFill>
              <a:srgbClr val="C4D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d68236bfc0_0_55"/>
          <p:cNvSpPr/>
          <p:nvPr/>
        </p:nvSpPr>
        <p:spPr>
          <a:xfrm>
            <a:off x="6675120" y="1664208"/>
            <a:ext cx="20118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900"/>
              <a:buFont typeface="Calibri"/>
              <a:buNone/>
            </a:pPr>
            <a:r>
              <a:rPr b="0" i="0" lang="en-US" sz="900" u="none" cap="none" strike="noStrike">
                <a:solidFill>
                  <a:srgbClr val="2C5F2D"/>
                </a:solidFill>
                <a:latin typeface="Calibri"/>
                <a:ea typeface="Calibri"/>
                <a:cs typeface="Calibri"/>
                <a:sym typeface="Calibri"/>
              </a:rPr>
              <a:t>Learns </a:t>
            </a:r>
            <a:r>
              <a:rPr lang="en-US" sz="900">
                <a:solidFill>
                  <a:srgbClr val="2C5F2D"/>
                </a:solidFill>
                <a:latin typeface="Calibri"/>
                <a:ea typeface="Calibri"/>
                <a:cs typeface="Calibri"/>
                <a:sym typeface="Calibri"/>
              </a:rPr>
              <a:t>mel band frequency for each row</a:t>
            </a:r>
            <a:r>
              <a:rPr b="0" i="0" lang="en-US" sz="900" u="none" cap="none" strike="noStrike">
                <a:solidFill>
                  <a:srgbClr val="2C5F2D"/>
                </a:solidFill>
                <a:latin typeface="Calibri"/>
                <a:ea typeface="Calibri"/>
                <a:cs typeface="Calibri"/>
                <a:sym typeface="Calibri"/>
              </a:rPr>
              <a:t>. Not affected by </a:t>
            </a:r>
            <a:r>
              <a:rPr lang="en-US" sz="900">
                <a:solidFill>
                  <a:srgbClr val="2C5F2D"/>
                </a:solidFill>
                <a:latin typeface="Calibri"/>
                <a:ea typeface="Calibri"/>
                <a:cs typeface="Calibri"/>
                <a:sym typeface="Calibri"/>
              </a:rPr>
              <a:t>harmonic spread.</a:t>
            </a:r>
            <a:endParaRPr b="0" i="0" sz="900" u="none" cap="none" strike="noStrike">
              <a:solidFill>
                <a:schemeClr val="dk1"/>
              </a:solidFill>
              <a:latin typeface="Calibri"/>
              <a:ea typeface="Calibri"/>
              <a:cs typeface="Calibri"/>
              <a:sym typeface="Calibri"/>
            </a:endParaRPr>
          </a:p>
        </p:txBody>
      </p:sp>
      <p:sp>
        <p:nvSpPr>
          <p:cNvPr id="182" name="Google Shape;182;g3d68236bfc0_0_55"/>
          <p:cNvSpPr/>
          <p:nvPr/>
        </p:nvSpPr>
        <p:spPr>
          <a:xfrm>
            <a:off x="4846320" y="2176272"/>
            <a:ext cx="914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Georgia"/>
              <a:buNone/>
            </a:pPr>
            <a:r>
              <a:rPr b="1" i="0" lang="en-US" sz="1100" u="none" cap="none" strike="noStrike">
                <a:solidFill>
                  <a:srgbClr val="2C5F2D"/>
                </a:solidFill>
                <a:latin typeface="Georgia"/>
                <a:ea typeface="Georgia"/>
                <a:cs typeface="Georgia"/>
                <a:sym typeface="Georgia"/>
              </a:rPr>
              <a:t>Speed</a:t>
            </a:r>
            <a:endParaRPr b="0" i="0" sz="1100" u="none" cap="none" strike="noStrike">
              <a:solidFill>
                <a:schemeClr val="dk1"/>
              </a:solidFill>
              <a:latin typeface="Calibri"/>
              <a:ea typeface="Calibri"/>
              <a:cs typeface="Calibri"/>
              <a:sym typeface="Calibri"/>
            </a:endParaRPr>
          </a:p>
        </p:txBody>
      </p:sp>
      <p:sp>
        <p:nvSpPr>
          <p:cNvPr id="183" name="Google Shape;183;g3d68236bfc0_0_55"/>
          <p:cNvSpPr/>
          <p:nvPr/>
        </p:nvSpPr>
        <p:spPr>
          <a:xfrm>
            <a:off x="4846320" y="2450592"/>
            <a:ext cx="1645800" cy="411600"/>
          </a:xfrm>
          <a:prstGeom prst="rect">
            <a:avLst/>
          </a:prstGeom>
          <a:solidFill>
            <a:srgbClr val="F5EEE6"/>
          </a:solidFill>
          <a:ln cap="flat" cmpd="sng" w="12700">
            <a:solidFill>
              <a:srgbClr val="E0C8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d68236bfc0_0_55"/>
          <p:cNvSpPr/>
          <p:nvPr/>
        </p:nvSpPr>
        <p:spPr>
          <a:xfrm>
            <a:off x="4892040" y="2468880"/>
            <a:ext cx="155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5533"/>
              </a:buClr>
              <a:buSzPts val="900"/>
              <a:buFont typeface="Calibri"/>
              <a:buNone/>
            </a:pPr>
            <a:r>
              <a:rPr b="0" i="0" lang="en-US" sz="900" u="none" cap="none" strike="noStrike">
                <a:solidFill>
                  <a:srgbClr val="775533"/>
                </a:solidFill>
                <a:latin typeface="Calibri"/>
                <a:ea typeface="Calibri"/>
                <a:cs typeface="Calibri"/>
                <a:sym typeface="Calibri"/>
              </a:rPr>
              <a:t>Scores against every reference file at runtime</a:t>
            </a:r>
            <a:r>
              <a:rPr lang="en-US" sz="900">
                <a:solidFill>
                  <a:srgbClr val="775533"/>
                </a:solidFill>
                <a:latin typeface="Calibri"/>
                <a:ea typeface="Calibri"/>
                <a:cs typeface="Calibri"/>
                <a:sym typeface="Calibri"/>
              </a:rPr>
              <a:t> which makes it</a:t>
            </a:r>
            <a:r>
              <a:rPr b="0" i="0" lang="en-US" sz="900" u="none" cap="none" strike="noStrike">
                <a:solidFill>
                  <a:srgbClr val="775533"/>
                </a:solidFill>
                <a:latin typeface="Calibri"/>
                <a:ea typeface="Calibri"/>
                <a:cs typeface="Calibri"/>
                <a:sym typeface="Calibri"/>
              </a:rPr>
              <a:t> slower as dataset grows.</a:t>
            </a:r>
            <a:endParaRPr b="0" i="0" sz="900" u="none" cap="none" strike="noStrike">
              <a:solidFill>
                <a:schemeClr val="dk1"/>
              </a:solidFill>
              <a:latin typeface="Calibri"/>
              <a:ea typeface="Calibri"/>
              <a:cs typeface="Calibri"/>
              <a:sym typeface="Calibri"/>
            </a:endParaRPr>
          </a:p>
        </p:txBody>
      </p:sp>
      <p:sp>
        <p:nvSpPr>
          <p:cNvPr id="185" name="Google Shape;185;g3d68236bfc0_0_55"/>
          <p:cNvSpPr/>
          <p:nvPr/>
        </p:nvSpPr>
        <p:spPr>
          <a:xfrm>
            <a:off x="6629400" y="2450592"/>
            <a:ext cx="2103000" cy="411600"/>
          </a:xfrm>
          <a:prstGeom prst="rect">
            <a:avLst/>
          </a:prstGeom>
          <a:solidFill>
            <a:srgbClr val="EEF4E6"/>
          </a:solidFill>
          <a:ln cap="flat" cmpd="sng" w="12700">
            <a:solidFill>
              <a:srgbClr val="C4D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d68236bfc0_0_55"/>
          <p:cNvSpPr/>
          <p:nvPr/>
        </p:nvSpPr>
        <p:spPr>
          <a:xfrm>
            <a:off x="6675120" y="2468880"/>
            <a:ext cx="20118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900"/>
              <a:buFont typeface="Calibri"/>
              <a:buNone/>
            </a:pPr>
            <a:r>
              <a:rPr b="0" i="0" lang="en-US" sz="900" u="none" cap="none" strike="noStrike">
                <a:solidFill>
                  <a:srgbClr val="2C5F2D"/>
                </a:solidFill>
                <a:latin typeface="Calibri"/>
                <a:ea typeface="Calibri"/>
                <a:cs typeface="Calibri"/>
                <a:sym typeface="Calibri"/>
              </a:rPr>
              <a:t>Trained once. Inference is the same speed regardless of dataset size.</a:t>
            </a:r>
            <a:endParaRPr b="0" i="0" sz="900" u="none" cap="none" strike="noStrike">
              <a:solidFill>
                <a:schemeClr val="dk1"/>
              </a:solidFill>
              <a:latin typeface="Calibri"/>
              <a:ea typeface="Calibri"/>
              <a:cs typeface="Calibri"/>
              <a:sym typeface="Calibri"/>
            </a:endParaRPr>
          </a:p>
        </p:txBody>
      </p:sp>
      <p:sp>
        <p:nvSpPr>
          <p:cNvPr id="187" name="Google Shape;187;g3d68236bfc0_0_55"/>
          <p:cNvSpPr/>
          <p:nvPr/>
        </p:nvSpPr>
        <p:spPr>
          <a:xfrm>
            <a:off x="4846320" y="2980944"/>
            <a:ext cx="914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Georgia"/>
              <a:buNone/>
            </a:pPr>
            <a:r>
              <a:rPr b="1" i="0" lang="en-US" sz="1100" u="none" cap="none" strike="noStrike">
                <a:solidFill>
                  <a:srgbClr val="2C5F2D"/>
                </a:solidFill>
                <a:latin typeface="Georgia"/>
                <a:ea typeface="Georgia"/>
                <a:cs typeface="Georgia"/>
                <a:sym typeface="Georgia"/>
              </a:rPr>
              <a:t>Output</a:t>
            </a:r>
            <a:endParaRPr b="0" i="0" sz="1100" u="none" cap="none" strike="noStrike">
              <a:solidFill>
                <a:schemeClr val="dk1"/>
              </a:solidFill>
              <a:latin typeface="Calibri"/>
              <a:ea typeface="Calibri"/>
              <a:cs typeface="Calibri"/>
              <a:sym typeface="Calibri"/>
            </a:endParaRPr>
          </a:p>
        </p:txBody>
      </p:sp>
      <p:sp>
        <p:nvSpPr>
          <p:cNvPr id="188" name="Google Shape;188;g3d68236bfc0_0_55"/>
          <p:cNvSpPr/>
          <p:nvPr/>
        </p:nvSpPr>
        <p:spPr>
          <a:xfrm>
            <a:off x="4846320" y="3255264"/>
            <a:ext cx="1645800" cy="411600"/>
          </a:xfrm>
          <a:prstGeom prst="rect">
            <a:avLst/>
          </a:prstGeom>
          <a:solidFill>
            <a:srgbClr val="F5EEE6"/>
          </a:solidFill>
          <a:ln cap="flat" cmpd="sng" w="12700">
            <a:solidFill>
              <a:srgbClr val="E0C8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d68236bfc0_0_55"/>
          <p:cNvSpPr/>
          <p:nvPr/>
        </p:nvSpPr>
        <p:spPr>
          <a:xfrm>
            <a:off x="4892040" y="3273552"/>
            <a:ext cx="155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5533"/>
              </a:buClr>
              <a:buSzPts val="900"/>
              <a:buFont typeface="Calibri"/>
              <a:buNone/>
            </a:pPr>
            <a:r>
              <a:rPr b="0" i="0" lang="en-US" sz="900" u="none" cap="none" strike="noStrike">
                <a:solidFill>
                  <a:srgbClr val="775533"/>
                </a:solidFill>
                <a:latin typeface="Calibri"/>
                <a:ea typeface="Calibri"/>
                <a:cs typeface="Calibri"/>
                <a:sym typeface="Calibri"/>
              </a:rPr>
              <a:t>Raw correlation score </a:t>
            </a:r>
            <a:r>
              <a:rPr lang="en-US" sz="900">
                <a:solidFill>
                  <a:srgbClr val="775533"/>
                </a:solidFill>
                <a:latin typeface="Calibri"/>
                <a:ea typeface="Calibri"/>
                <a:cs typeface="Calibri"/>
                <a:sym typeface="Calibri"/>
              </a:rPr>
              <a:t>which means ther is </a:t>
            </a:r>
            <a:r>
              <a:rPr b="0" i="0" lang="en-US" sz="900" u="none" cap="none" strike="noStrike">
                <a:solidFill>
                  <a:srgbClr val="775533"/>
                </a:solidFill>
                <a:latin typeface="Calibri"/>
                <a:ea typeface="Calibri"/>
                <a:cs typeface="Calibri"/>
                <a:sym typeface="Calibri"/>
              </a:rPr>
              <a:t>no meaningful upper bound.</a:t>
            </a:r>
            <a:endParaRPr b="0" i="0" sz="900" u="none" cap="none" strike="noStrike">
              <a:solidFill>
                <a:schemeClr val="dk1"/>
              </a:solidFill>
              <a:latin typeface="Calibri"/>
              <a:ea typeface="Calibri"/>
              <a:cs typeface="Calibri"/>
              <a:sym typeface="Calibri"/>
            </a:endParaRPr>
          </a:p>
        </p:txBody>
      </p:sp>
      <p:sp>
        <p:nvSpPr>
          <p:cNvPr id="190" name="Google Shape;190;g3d68236bfc0_0_55"/>
          <p:cNvSpPr/>
          <p:nvPr/>
        </p:nvSpPr>
        <p:spPr>
          <a:xfrm>
            <a:off x="6629400" y="3255264"/>
            <a:ext cx="2103000" cy="411600"/>
          </a:xfrm>
          <a:prstGeom prst="rect">
            <a:avLst/>
          </a:prstGeom>
          <a:solidFill>
            <a:srgbClr val="EEF4E6"/>
          </a:solidFill>
          <a:ln cap="flat" cmpd="sng" w="12700">
            <a:solidFill>
              <a:srgbClr val="C4D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d68236bfc0_0_55"/>
          <p:cNvSpPr/>
          <p:nvPr/>
        </p:nvSpPr>
        <p:spPr>
          <a:xfrm>
            <a:off x="6675120" y="3273552"/>
            <a:ext cx="20118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900"/>
              <a:buFont typeface="Calibri"/>
              <a:buNone/>
            </a:pPr>
            <a:r>
              <a:rPr b="0" i="0" lang="en-US" sz="900" u="none" cap="none" strike="noStrike">
                <a:solidFill>
                  <a:srgbClr val="2C5F2D"/>
                </a:solidFill>
                <a:latin typeface="Calibri"/>
                <a:ea typeface="Calibri"/>
                <a:cs typeface="Calibri"/>
                <a:sym typeface="Calibri"/>
              </a:rPr>
              <a:t>Confidence score 0–1 per species via sigmoid output layer.</a:t>
            </a:r>
            <a:endParaRPr b="0" i="0" sz="900" u="none" cap="none" strike="noStrike">
              <a:solidFill>
                <a:schemeClr val="dk1"/>
              </a:solidFill>
              <a:latin typeface="Calibri"/>
              <a:ea typeface="Calibri"/>
              <a:cs typeface="Calibri"/>
              <a:sym typeface="Calibri"/>
            </a:endParaRPr>
          </a:p>
        </p:txBody>
      </p:sp>
      <p:sp>
        <p:nvSpPr>
          <p:cNvPr id="192" name="Google Shape;192;g3d68236bfc0_0_55"/>
          <p:cNvSpPr/>
          <p:nvPr/>
        </p:nvSpPr>
        <p:spPr>
          <a:xfrm>
            <a:off x="4846320" y="3785616"/>
            <a:ext cx="914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Georgia"/>
              <a:buNone/>
            </a:pPr>
            <a:r>
              <a:rPr b="1" i="0" lang="en-US" sz="1100" u="none" cap="none" strike="noStrike">
                <a:solidFill>
                  <a:srgbClr val="2C5F2D"/>
                </a:solidFill>
                <a:latin typeface="Georgia"/>
                <a:ea typeface="Georgia"/>
                <a:cs typeface="Georgia"/>
                <a:sym typeface="Georgia"/>
              </a:rPr>
              <a:t>Robustness</a:t>
            </a:r>
            <a:endParaRPr b="0" i="0" sz="1100" u="none" cap="none" strike="noStrike">
              <a:solidFill>
                <a:schemeClr val="dk1"/>
              </a:solidFill>
              <a:latin typeface="Calibri"/>
              <a:ea typeface="Calibri"/>
              <a:cs typeface="Calibri"/>
              <a:sym typeface="Calibri"/>
            </a:endParaRPr>
          </a:p>
        </p:txBody>
      </p:sp>
      <p:sp>
        <p:nvSpPr>
          <p:cNvPr id="193" name="Google Shape;193;g3d68236bfc0_0_55"/>
          <p:cNvSpPr/>
          <p:nvPr/>
        </p:nvSpPr>
        <p:spPr>
          <a:xfrm>
            <a:off x="4846320" y="4059936"/>
            <a:ext cx="1645800" cy="411600"/>
          </a:xfrm>
          <a:prstGeom prst="rect">
            <a:avLst/>
          </a:prstGeom>
          <a:solidFill>
            <a:srgbClr val="F5EEE6"/>
          </a:solidFill>
          <a:ln cap="flat" cmpd="sng" w="12700">
            <a:solidFill>
              <a:srgbClr val="E0C8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d68236bfc0_0_55"/>
          <p:cNvSpPr/>
          <p:nvPr/>
        </p:nvSpPr>
        <p:spPr>
          <a:xfrm>
            <a:off x="4892040" y="4078224"/>
            <a:ext cx="155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5533"/>
              </a:buClr>
              <a:buSzPts val="900"/>
              <a:buFont typeface="Calibri"/>
              <a:buNone/>
            </a:pPr>
            <a:r>
              <a:rPr b="0" i="0" lang="en-US" sz="900" u="none" cap="none" strike="noStrike">
                <a:solidFill>
                  <a:srgbClr val="775533"/>
                </a:solidFill>
                <a:latin typeface="Calibri"/>
                <a:ea typeface="Calibri"/>
                <a:cs typeface="Calibri"/>
                <a:sym typeface="Calibri"/>
              </a:rPr>
              <a:t>Sensitive to recording length and background noise.</a:t>
            </a:r>
            <a:endParaRPr b="0" i="0" sz="900" u="none" cap="none" strike="noStrike">
              <a:solidFill>
                <a:schemeClr val="dk1"/>
              </a:solidFill>
              <a:latin typeface="Calibri"/>
              <a:ea typeface="Calibri"/>
              <a:cs typeface="Calibri"/>
              <a:sym typeface="Calibri"/>
            </a:endParaRPr>
          </a:p>
        </p:txBody>
      </p:sp>
      <p:sp>
        <p:nvSpPr>
          <p:cNvPr id="195" name="Google Shape;195;g3d68236bfc0_0_55"/>
          <p:cNvSpPr/>
          <p:nvPr/>
        </p:nvSpPr>
        <p:spPr>
          <a:xfrm>
            <a:off x="6629400" y="4059936"/>
            <a:ext cx="2103000" cy="411600"/>
          </a:xfrm>
          <a:prstGeom prst="rect">
            <a:avLst/>
          </a:prstGeom>
          <a:solidFill>
            <a:srgbClr val="EEF4E6"/>
          </a:solidFill>
          <a:ln cap="flat" cmpd="sng" w="12700">
            <a:solidFill>
              <a:srgbClr val="C4D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d68236bfc0_0_55"/>
          <p:cNvSpPr/>
          <p:nvPr/>
        </p:nvSpPr>
        <p:spPr>
          <a:xfrm>
            <a:off x="6675120" y="4078224"/>
            <a:ext cx="20118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900"/>
              <a:buFont typeface="Calibri"/>
              <a:buNone/>
            </a:pPr>
            <a:r>
              <a:rPr b="0" i="0" lang="en-US" sz="900" u="none" cap="none" strike="noStrike">
                <a:solidFill>
                  <a:srgbClr val="2C5F2D"/>
                </a:solidFill>
                <a:latin typeface="Calibri"/>
                <a:ea typeface="Calibri"/>
                <a:cs typeface="Calibri"/>
                <a:sym typeface="Calibri"/>
              </a:rPr>
              <a:t>Trained across 8+ varied recordings per species</a:t>
            </a:r>
            <a:r>
              <a:rPr lang="en-US" sz="900">
                <a:solidFill>
                  <a:srgbClr val="2C5F2D"/>
                </a:solidFill>
                <a:latin typeface="Calibri"/>
                <a:ea typeface="Calibri"/>
                <a:cs typeface="Calibri"/>
                <a:sym typeface="Calibri"/>
              </a:rPr>
              <a:t>, with control for background noise</a:t>
            </a:r>
            <a:r>
              <a:rPr b="0" i="0" lang="en-US" sz="900" u="none" cap="none" strike="noStrike">
                <a:solidFill>
                  <a:srgbClr val="2C5F2D"/>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97" name="Google Shape;197;g3d68236bfc0_0_55"/>
          <p:cNvSpPr/>
          <p:nvPr/>
        </p:nvSpPr>
        <p:spPr>
          <a:xfrm>
            <a:off x="4846320" y="1188720"/>
            <a:ext cx="1645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5533"/>
              </a:buClr>
              <a:buSzPts val="900"/>
              <a:buFont typeface="Calibri"/>
              <a:buNone/>
            </a:pPr>
            <a:r>
              <a:rPr b="1" i="0" lang="en-US" sz="900" u="none" cap="none" strike="noStrike">
                <a:solidFill>
                  <a:srgbClr val="775533"/>
                </a:solidFill>
                <a:latin typeface="Calibri"/>
                <a:ea typeface="Calibri"/>
                <a:cs typeface="Calibri"/>
                <a:sym typeface="Calibri"/>
              </a:rPr>
              <a:t>Ranker  (Approach 1)</a:t>
            </a:r>
            <a:endParaRPr b="0" i="0" sz="900" u="none" cap="none" strike="noStrike">
              <a:solidFill>
                <a:schemeClr val="dk1"/>
              </a:solidFill>
              <a:latin typeface="Calibri"/>
              <a:ea typeface="Calibri"/>
              <a:cs typeface="Calibri"/>
              <a:sym typeface="Calibri"/>
            </a:endParaRPr>
          </a:p>
        </p:txBody>
      </p:sp>
      <p:sp>
        <p:nvSpPr>
          <p:cNvPr id="198" name="Google Shape;198;g3d68236bfc0_0_55"/>
          <p:cNvSpPr/>
          <p:nvPr/>
        </p:nvSpPr>
        <p:spPr>
          <a:xfrm>
            <a:off x="6629400" y="1188720"/>
            <a:ext cx="2103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900"/>
              <a:buFont typeface="Calibri"/>
              <a:buNone/>
            </a:pPr>
            <a:r>
              <a:rPr b="1" i="0" lang="en-US" sz="900" u="none" cap="none" strike="noStrike">
                <a:solidFill>
                  <a:srgbClr val="2C5F2D"/>
                </a:solidFill>
                <a:latin typeface="Calibri"/>
                <a:ea typeface="Calibri"/>
                <a:cs typeface="Calibri"/>
                <a:sym typeface="Calibri"/>
              </a:rPr>
              <a:t>Neural Network  (Approach 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0"/>
        </a:solidFill>
      </p:bgPr>
    </p:bg>
    <p:spTree>
      <p:nvGrpSpPr>
        <p:cNvPr id="203" name="Shape 203"/>
        <p:cNvGrpSpPr/>
        <p:nvPr/>
      </p:nvGrpSpPr>
      <p:grpSpPr>
        <a:xfrm>
          <a:off x="0" y="0"/>
          <a:ext cx="0" cy="0"/>
          <a:chOff x="0" y="0"/>
          <a:chExt cx="0" cy="0"/>
        </a:xfrm>
      </p:grpSpPr>
      <p:sp>
        <p:nvSpPr>
          <p:cNvPr id="204" name="Google Shape;204;g3d68236bfc0_0_93"/>
          <p:cNvSpPr/>
          <p:nvPr/>
        </p:nvSpPr>
        <p:spPr>
          <a:xfrm>
            <a:off x="0" y="0"/>
            <a:ext cx="9144000" cy="68580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3d68236bfc0_0_93"/>
          <p:cNvSpPr/>
          <p:nvPr/>
        </p:nvSpPr>
        <p:spPr>
          <a:xfrm>
            <a:off x="365760" y="0"/>
            <a:ext cx="64923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NEURAL NETWORK + CLASSIFIER</a:t>
            </a:r>
            <a:endParaRPr b="0" i="0" sz="2000" u="none" cap="none" strike="noStrike">
              <a:solidFill>
                <a:schemeClr val="dk1"/>
              </a:solidFill>
              <a:latin typeface="Calibri"/>
              <a:ea typeface="Calibri"/>
              <a:cs typeface="Calibri"/>
              <a:sym typeface="Calibri"/>
            </a:endParaRPr>
          </a:p>
        </p:txBody>
      </p:sp>
      <p:sp>
        <p:nvSpPr>
          <p:cNvPr id="206" name="Google Shape;206;g3d68236bfc0_0_93"/>
          <p:cNvSpPr/>
          <p:nvPr/>
        </p:nvSpPr>
        <p:spPr>
          <a:xfrm>
            <a:off x="274320" y="868680"/>
            <a:ext cx="4023300" cy="40233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d68236bfc0_0_93"/>
          <p:cNvSpPr/>
          <p:nvPr/>
        </p:nvSpPr>
        <p:spPr>
          <a:xfrm>
            <a:off x="457200" y="960120"/>
            <a:ext cx="365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Training  —  nn.py + nn_trainer.py</a:t>
            </a:r>
            <a:endParaRPr b="0" i="0" sz="1300" u="none" cap="none" strike="noStrike">
              <a:solidFill>
                <a:schemeClr val="dk1"/>
              </a:solidFill>
              <a:latin typeface="Calibri"/>
              <a:ea typeface="Calibri"/>
              <a:cs typeface="Calibri"/>
              <a:sym typeface="Calibri"/>
            </a:endParaRPr>
          </a:p>
        </p:txBody>
      </p:sp>
      <p:sp>
        <p:nvSpPr>
          <p:cNvPr id="208" name="Google Shape;208;g3d68236bfc0_0_93"/>
          <p:cNvSpPr/>
          <p:nvPr/>
        </p:nvSpPr>
        <p:spPr>
          <a:xfrm>
            <a:off x="457200" y="1371600"/>
            <a:ext cx="3657600" cy="3291900"/>
          </a:xfrm>
          <a:prstGeom prst="rect">
            <a:avLst/>
          </a:prstGeom>
          <a:noFill/>
          <a:ln>
            <a:noFill/>
          </a:ln>
        </p:spPr>
        <p:txBody>
          <a:bodyPr anchorCtr="0" anchor="t" bIns="0" lIns="0" spcFirstLastPara="1" rIns="0" wrap="square" tIns="0">
            <a:noAutofit/>
          </a:bodyPr>
          <a:lstStyle/>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Architecture: 3-layer feedforward network</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Input layer: 4096 nodes (128 mel bins × 32 time frames, flattened)</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Hidden layer: 18 nodes</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Output layer: </a:t>
            </a:r>
            <a:r>
              <a:rPr lang="en-US" sz="1500">
                <a:solidFill>
                  <a:srgbClr val="333333"/>
                </a:solidFill>
                <a:latin typeface="Calibri"/>
                <a:ea typeface="Calibri"/>
                <a:cs typeface="Calibri"/>
                <a:sym typeface="Calibri"/>
              </a:rPr>
              <a:t>6</a:t>
            </a:r>
            <a:r>
              <a:rPr b="0" i="0" lang="en-US" sz="1500" u="none" cap="none" strike="noStrike">
                <a:solidFill>
                  <a:srgbClr val="333333"/>
                </a:solidFill>
                <a:latin typeface="Calibri"/>
                <a:ea typeface="Calibri"/>
                <a:cs typeface="Calibri"/>
                <a:sym typeface="Calibri"/>
              </a:rPr>
              <a:t> nodes</a:t>
            </a:r>
            <a:r>
              <a:rPr lang="en-US" sz="1500">
                <a:solidFill>
                  <a:srgbClr val="333333"/>
                </a:solidFill>
                <a:latin typeface="Calibri"/>
                <a:ea typeface="Calibri"/>
                <a:cs typeface="Calibri"/>
                <a:sym typeface="Calibri"/>
              </a:rPr>
              <a:t>,</a:t>
            </a:r>
            <a:r>
              <a:rPr b="0" i="0" lang="en-US" sz="1500" u="none" cap="none" strike="noStrike">
                <a:solidFill>
                  <a:srgbClr val="333333"/>
                </a:solidFill>
                <a:latin typeface="Calibri"/>
                <a:ea typeface="Calibri"/>
                <a:cs typeface="Calibri"/>
                <a:sym typeface="Calibri"/>
              </a:rPr>
              <a:t> one per bird species</a:t>
            </a:r>
            <a:r>
              <a:rPr lang="en-US" sz="1500">
                <a:solidFill>
                  <a:schemeClr val="dk1"/>
                </a:solidFill>
                <a:latin typeface="Calibri"/>
                <a:ea typeface="Calibri"/>
                <a:cs typeface="Calibri"/>
                <a:sym typeface="Calibri"/>
              </a:rPr>
              <a:t> + one background noise control</a:t>
            </a:r>
            <a:endParaRPr sz="1500">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Activation: sigmoid at every layer</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Training: backpropagation, 3500 epochs, alpha=0.01</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Labels: one-hot encoded (e.g. Robin = [1,0,0,0,0])</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Weights saved to data/model/bird_nn.npy</a:t>
            </a:r>
            <a:endParaRPr b="0" i="0" sz="1500" u="none" cap="none" strike="noStrike">
              <a:solidFill>
                <a:schemeClr val="dk1"/>
              </a:solidFill>
              <a:latin typeface="Calibri"/>
              <a:ea typeface="Calibri"/>
              <a:cs typeface="Calibri"/>
              <a:sym typeface="Calibri"/>
            </a:endParaRPr>
          </a:p>
        </p:txBody>
      </p:sp>
      <p:sp>
        <p:nvSpPr>
          <p:cNvPr id="209" name="Google Shape;209;g3d68236bfc0_0_93"/>
          <p:cNvSpPr/>
          <p:nvPr/>
        </p:nvSpPr>
        <p:spPr>
          <a:xfrm>
            <a:off x="4663440" y="868680"/>
            <a:ext cx="4206300" cy="40233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d68236bfc0_0_93"/>
          <p:cNvSpPr/>
          <p:nvPr/>
        </p:nvSpPr>
        <p:spPr>
          <a:xfrm>
            <a:off x="4846320" y="960120"/>
            <a:ext cx="3840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Inference  —  classifier.py</a:t>
            </a:r>
            <a:endParaRPr b="0" i="0" sz="1300" u="none" cap="none" strike="noStrike">
              <a:solidFill>
                <a:schemeClr val="dk1"/>
              </a:solidFill>
              <a:latin typeface="Calibri"/>
              <a:ea typeface="Calibri"/>
              <a:cs typeface="Calibri"/>
              <a:sym typeface="Calibri"/>
            </a:endParaRPr>
          </a:p>
        </p:txBody>
      </p:sp>
      <p:sp>
        <p:nvSpPr>
          <p:cNvPr id="211" name="Google Shape;211;g3d68236bfc0_0_93"/>
          <p:cNvSpPr/>
          <p:nvPr/>
        </p:nvSpPr>
        <p:spPr>
          <a:xfrm>
            <a:off x="4846320" y="1371600"/>
            <a:ext cx="3840600" cy="3291900"/>
          </a:xfrm>
          <a:prstGeom prst="rect">
            <a:avLst/>
          </a:prstGeom>
          <a:noFill/>
          <a:ln>
            <a:noFill/>
          </a:ln>
        </p:spPr>
        <p:txBody>
          <a:bodyPr anchorCtr="0" anchor="t" bIns="0" lIns="0" spcFirstLastPara="1" rIns="0" wrap="square" tIns="0">
            <a:noAutofit/>
          </a:bodyPr>
          <a:lstStyle/>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Load saved weights from data/model/bird_nn.npy</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Convert uploaded audio to mel-spectrogram </a:t>
            </a:r>
            <a:r>
              <a:rPr lang="en-US" sz="1500">
                <a:solidFill>
                  <a:srgbClr val="333333"/>
                </a:solidFill>
                <a:latin typeface="Calibri"/>
                <a:ea typeface="Calibri"/>
                <a:cs typeface="Calibri"/>
                <a:sym typeface="Calibri"/>
              </a:rPr>
              <a:t>numpy array </a:t>
            </a:r>
            <a:r>
              <a:rPr b="0" i="0" lang="en-US" sz="1500" u="none" cap="none" strike="noStrike">
                <a:solidFill>
                  <a:srgbClr val="333333"/>
                </a:solidFill>
                <a:latin typeface="Calibri"/>
                <a:ea typeface="Calibri"/>
                <a:cs typeface="Calibri"/>
                <a:sym typeface="Calibri"/>
              </a:rPr>
              <a:t>via generate_numpy_spec()</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Flatten to 4096-dim vector (cropped/padded to 128×32)</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Run nn.predict() — forward pass through saved weights</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Output: confidence score 0–1 per species</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Sort by confidence — highest first</a:t>
            </a:r>
            <a:endParaRPr b="0" i="0" sz="1500" u="none" cap="none" strike="noStrike">
              <a:solidFill>
                <a:schemeClr val="dk1"/>
              </a:solidFill>
              <a:latin typeface="Calibri"/>
              <a:ea typeface="Calibri"/>
              <a:cs typeface="Calibri"/>
              <a:sym typeface="Calibri"/>
            </a:endParaRPr>
          </a:p>
          <a:p>
            <a:pPr indent="-368300" lvl="0" marL="342900" marR="0" rtl="0" algn="l">
              <a:spcBef>
                <a:spcPts val="0"/>
              </a:spcBef>
              <a:spcAft>
                <a:spcPts val="0"/>
              </a:spcAft>
              <a:buClr>
                <a:srgbClr val="333333"/>
              </a:buClr>
              <a:buSzPts val="1500"/>
              <a:buFont typeface="Calibri"/>
              <a:buChar char="•"/>
            </a:pPr>
            <a:r>
              <a:rPr b="0" i="0" lang="en-US" sz="1500" u="none" cap="none" strike="noStrike">
                <a:solidFill>
                  <a:srgbClr val="333333"/>
                </a:solidFill>
                <a:latin typeface="Calibri"/>
                <a:ea typeface="Calibri"/>
                <a:cs typeface="Calibri"/>
                <a:sym typeface="Calibri"/>
              </a:rPr>
              <a:t>Return same format as Peyton's ranker so Stephen's UI needs no changes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0"/>
        </a:solidFill>
      </p:bgPr>
    </p:bg>
    <p:spTree>
      <p:nvGrpSpPr>
        <p:cNvPr id="216" name="Shape 216"/>
        <p:cNvGrpSpPr/>
        <p:nvPr/>
      </p:nvGrpSpPr>
      <p:grpSpPr>
        <a:xfrm>
          <a:off x="0" y="0"/>
          <a:ext cx="0" cy="0"/>
          <a:chOff x="0" y="0"/>
          <a:chExt cx="0" cy="0"/>
        </a:xfrm>
      </p:grpSpPr>
      <p:sp>
        <p:nvSpPr>
          <p:cNvPr id="217" name="Google Shape;217;g3dedd073bb7_2_0"/>
          <p:cNvSpPr/>
          <p:nvPr/>
        </p:nvSpPr>
        <p:spPr>
          <a:xfrm>
            <a:off x="0" y="0"/>
            <a:ext cx="9144000" cy="68580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3dedd073bb7_2_0"/>
          <p:cNvSpPr/>
          <p:nvPr/>
        </p:nvSpPr>
        <p:spPr>
          <a:xfrm>
            <a:off x="365747" y="0"/>
            <a:ext cx="87783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NEURAL NETWORK + CLASSIFIER</a:t>
            </a:r>
            <a:endParaRPr b="0" i="0" sz="2000" u="none" cap="none" strike="noStrike">
              <a:solidFill>
                <a:schemeClr val="dk1"/>
              </a:solidFill>
              <a:latin typeface="Calibri"/>
              <a:ea typeface="Calibri"/>
              <a:cs typeface="Calibri"/>
              <a:sym typeface="Calibri"/>
            </a:endParaRPr>
          </a:p>
        </p:txBody>
      </p:sp>
      <p:sp>
        <p:nvSpPr>
          <p:cNvPr id="219" name="Google Shape;219;g3dedd073bb7_2_0"/>
          <p:cNvSpPr/>
          <p:nvPr/>
        </p:nvSpPr>
        <p:spPr>
          <a:xfrm>
            <a:off x="274320" y="868680"/>
            <a:ext cx="4023300" cy="40233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dedd073bb7_2_0"/>
          <p:cNvSpPr/>
          <p:nvPr/>
        </p:nvSpPr>
        <p:spPr>
          <a:xfrm>
            <a:off x="457200" y="960120"/>
            <a:ext cx="365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Training  —  nn.py + nn_trainer.py</a:t>
            </a:r>
            <a:endParaRPr b="0" i="0" sz="1300" u="none" cap="none" strike="noStrike">
              <a:solidFill>
                <a:schemeClr val="dk1"/>
              </a:solidFill>
              <a:latin typeface="Calibri"/>
              <a:ea typeface="Calibri"/>
              <a:cs typeface="Calibri"/>
              <a:sym typeface="Calibri"/>
            </a:endParaRPr>
          </a:p>
        </p:txBody>
      </p:sp>
      <p:sp>
        <p:nvSpPr>
          <p:cNvPr id="221" name="Google Shape;221;g3dedd073bb7_2_0"/>
          <p:cNvSpPr/>
          <p:nvPr/>
        </p:nvSpPr>
        <p:spPr>
          <a:xfrm>
            <a:off x="4663440" y="868680"/>
            <a:ext cx="4206300" cy="40233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dedd073bb7_2_0"/>
          <p:cNvSpPr/>
          <p:nvPr/>
        </p:nvSpPr>
        <p:spPr>
          <a:xfrm>
            <a:off x="4846320" y="960120"/>
            <a:ext cx="3840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Inference  —  classifier.py</a:t>
            </a:r>
            <a:endParaRPr b="0" i="0" sz="1300" u="none" cap="none" strike="noStrike">
              <a:solidFill>
                <a:schemeClr val="dk1"/>
              </a:solidFill>
              <a:latin typeface="Calibri"/>
              <a:ea typeface="Calibri"/>
              <a:cs typeface="Calibri"/>
              <a:sym typeface="Calibri"/>
            </a:endParaRPr>
          </a:p>
        </p:txBody>
      </p:sp>
      <p:pic>
        <p:nvPicPr>
          <p:cNvPr id="223" name="Google Shape;223;g3dedd073bb7_2_0" title="Screenshot 2026-04-16 at 5.55.45 PM.png"/>
          <p:cNvPicPr preferRelativeResize="0"/>
          <p:nvPr/>
        </p:nvPicPr>
        <p:blipFill>
          <a:blip r:embed="rId3">
            <a:alphaModFix/>
          </a:blip>
          <a:stretch>
            <a:fillRect/>
          </a:stretch>
        </p:blipFill>
        <p:spPr>
          <a:xfrm>
            <a:off x="4846321" y="1354315"/>
            <a:ext cx="3657601" cy="3326473"/>
          </a:xfrm>
          <a:prstGeom prst="rect">
            <a:avLst/>
          </a:prstGeom>
          <a:noFill/>
          <a:ln>
            <a:noFill/>
          </a:ln>
        </p:spPr>
      </p:pic>
      <p:pic>
        <p:nvPicPr>
          <p:cNvPr id="224" name="Google Shape;224;g3dedd073bb7_2_0" title="Screenshot 2026-04-16 at 5.56.54 PM.png"/>
          <p:cNvPicPr preferRelativeResize="0"/>
          <p:nvPr/>
        </p:nvPicPr>
        <p:blipFill>
          <a:blip r:embed="rId4">
            <a:alphaModFix/>
          </a:blip>
          <a:stretch>
            <a:fillRect/>
          </a:stretch>
        </p:blipFill>
        <p:spPr>
          <a:xfrm>
            <a:off x="457211" y="1305771"/>
            <a:ext cx="2699826" cy="342357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0"/>
        </a:solidFill>
      </p:bgPr>
    </p:bg>
    <p:spTree>
      <p:nvGrpSpPr>
        <p:cNvPr id="229" name="Shape 229"/>
        <p:cNvGrpSpPr/>
        <p:nvPr/>
      </p:nvGrpSpPr>
      <p:grpSpPr>
        <a:xfrm>
          <a:off x="0" y="0"/>
          <a:ext cx="0" cy="0"/>
          <a:chOff x="0" y="0"/>
          <a:chExt cx="0" cy="0"/>
        </a:xfrm>
      </p:grpSpPr>
      <p:sp>
        <p:nvSpPr>
          <p:cNvPr id="230" name="Google Shape;230;g3d68236bfc0_0_107"/>
          <p:cNvSpPr/>
          <p:nvPr/>
        </p:nvSpPr>
        <p:spPr>
          <a:xfrm>
            <a:off x="0" y="0"/>
            <a:ext cx="9144000" cy="68580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d68236bfc0_0_107"/>
          <p:cNvSpPr/>
          <p:nvPr/>
        </p:nvSpPr>
        <p:spPr>
          <a:xfrm>
            <a:off x="365750" y="0"/>
            <a:ext cx="87783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FLASK + UI </a:t>
            </a:r>
            <a:endParaRPr b="0" i="0" sz="2000" u="none" cap="none" strike="noStrike">
              <a:solidFill>
                <a:schemeClr val="dk1"/>
              </a:solidFill>
              <a:latin typeface="Calibri"/>
              <a:ea typeface="Calibri"/>
              <a:cs typeface="Calibri"/>
              <a:sym typeface="Calibri"/>
            </a:endParaRPr>
          </a:p>
        </p:txBody>
      </p:sp>
      <p:sp>
        <p:nvSpPr>
          <p:cNvPr id="232" name="Google Shape;232;g3d68236bfc0_0_107"/>
          <p:cNvSpPr/>
          <p:nvPr/>
        </p:nvSpPr>
        <p:spPr>
          <a:xfrm>
            <a:off x="274320" y="868680"/>
            <a:ext cx="4023300" cy="40233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d68236bfc0_0_107"/>
          <p:cNvSpPr/>
          <p:nvPr/>
        </p:nvSpPr>
        <p:spPr>
          <a:xfrm>
            <a:off x="457200" y="960120"/>
            <a:ext cx="365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400"/>
              <a:buFont typeface="Georgia"/>
              <a:buNone/>
            </a:pPr>
            <a:r>
              <a:rPr b="1" lang="en-US">
                <a:solidFill>
                  <a:srgbClr val="2C5F2D"/>
                </a:solidFill>
                <a:latin typeface="Georgia"/>
                <a:ea typeface="Georgia"/>
                <a:cs typeface="Georgia"/>
                <a:sym typeface="Georgia"/>
              </a:rPr>
              <a:t>User Journey</a:t>
            </a:r>
            <a:endParaRPr b="0" i="0" sz="1400" u="none" cap="none" strike="noStrike">
              <a:solidFill>
                <a:schemeClr val="dk1"/>
              </a:solidFill>
              <a:latin typeface="Calibri"/>
              <a:ea typeface="Calibri"/>
              <a:cs typeface="Calibri"/>
              <a:sym typeface="Calibri"/>
            </a:endParaRPr>
          </a:p>
        </p:txBody>
      </p:sp>
      <p:sp>
        <p:nvSpPr>
          <p:cNvPr id="234" name="Google Shape;234;g3d68236bfc0_0_107"/>
          <p:cNvSpPr/>
          <p:nvPr/>
        </p:nvSpPr>
        <p:spPr>
          <a:xfrm>
            <a:off x="457200" y="13716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lang="en-US" sz="1000">
                <a:solidFill>
                  <a:srgbClr val="2C5F2D"/>
                </a:solidFill>
                <a:latin typeface="Consolas"/>
                <a:ea typeface="Consolas"/>
                <a:cs typeface="Consolas"/>
                <a:sym typeface="Consolas"/>
              </a:rPr>
              <a:t>User visits home page</a:t>
            </a:r>
            <a:endParaRPr b="0" i="0" sz="1000" u="none" cap="none" strike="noStrike">
              <a:solidFill>
                <a:schemeClr val="dk1"/>
              </a:solidFill>
              <a:latin typeface="Calibri"/>
              <a:ea typeface="Calibri"/>
              <a:cs typeface="Calibri"/>
              <a:sym typeface="Calibri"/>
            </a:endParaRPr>
          </a:p>
        </p:txBody>
      </p:sp>
      <p:sp>
        <p:nvSpPr>
          <p:cNvPr id="235" name="Google Shape;235;g3d68236bfc0_0_107"/>
          <p:cNvSpPr/>
          <p:nvPr/>
        </p:nvSpPr>
        <p:spPr>
          <a:xfrm>
            <a:off x="2651695" y="1371600"/>
            <a:ext cx="1554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55555"/>
              </a:buClr>
              <a:buSzPts val="1000"/>
              <a:buFont typeface="Calibri"/>
              <a:buNone/>
            </a:pPr>
            <a:r>
              <a:rPr lang="en-US" sz="1000">
                <a:solidFill>
                  <a:schemeClr val="dk1"/>
                </a:solidFill>
                <a:latin typeface="Calibri"/>
                <a:ea typeface="Calibri"/>
                <a:cs typeface="Calibri"/>
                <a:sym typeface="Calibri"/>
              </a:rPr>
              <a:t>landing.html</a:t>
            </a:r>
            <a:endParaRPr i="0" sz="1000" u="none" cap="none" strike="noStrike">
              <a:solidFill>
                <a:schemeClr val="dk1"/>
              </a:solidFill>
              <a:latin typeface="Calibri"/>
              <a:ea typeface="Calibri"/>
              <a:cs typeface="Calibri"/>
              <a:sym typeface="Calibri"/>
            </a:endParaRPr>
          </a:p>
        </p:txBody>
      </p:sp>
      <p:sp>
        <p:nvSpPr>
          <p:cNvPr id="236" name="Google Shape;236;g3d68236bfc0_0_107"/>
          <p:cNvSpPr/>
          <p:nvPr/>
        </p:nvSpPr>
        <p:spPr>
          <a:xfrm>
            <a:off x="457200" y="18288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lang="en-US" sz="1000">
                <a:solidFill>
                  <a:srgbClr val="2C5F2D"/>
                </a:solidFill>
                <a:latin typeface="Consolas"/>
                <a:ea typeface="Consolas"/>
                <a:cs typeface="Consolas"/>
                <a:sym typeface="Consolas"/>
              </a:rPr>
              <a:t>User uploads an audio file</a:t>
            </a:r>
            <a:endParaRPr b="0" i="0" sz="1000" u="none" cap="none" strike="noStrike">
              <a:solidFill>
                <a:schemeClr val="dk1"/>
              </a:solidFill>
              <a:latin typeface="Calibri"/>
              <a:ea typeface="Calibri"/>
              <a:cs typeface="Calibri"/>
              <a:sym typeface="Calibri"/>
            </a:endParaRPr>
          </a:p>
        </p:txBody>
      </p:sp>
      <p:sp>
        <p:nvSpPr>
          <p:cNvPr id="237" name="Google Shape;237;g3d68236bfc0_0_107"/>
          <p:cNvSpPr/>
          <p:nvPr/>
        </p:nvSpPr>
        <p:spPr>
          <a:xfrm>
            <a:off x="2651695" y="1828800"/>
            <a:ext cx="1554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upload.html</a:t>
            </a:r>
            <a:endParaRPr i="0" sz="1000" u="none" cap="none" strike="noStrike">
              <a:solidFill>
                <a:schemeClr val="dk1"/>
              </a:solidFill>
              <a:latin typeface="Calibri"/>
              <a:ea typeface="Calibri"/>
              <a:cs typeface="Calibri"/>
              <a:sym typeface="Calibri"/>
            </a:endParaRPr>
          </a:p>
        </p:txBody>
      </p:sp>
      <p:sp>
        <p:nvSpPr>
          <p:cNvPr id="238" name="Google Shape;238;g3d68236bfc0_0_107"/>
          <p:cNvSpPr/>
          <p:nvPr/>
        </p:nvSpPr>
        <p:spPr>
          <a:xfrm>
            <a:off x="457200" y="2286000"/>
            <a:ext cx="20118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2C5F2D"/>
              </a:buClr>
              <a:buSzPts val="1000"/>
              <a:buFont typeface="Consolas"/>
              <a:buNone/>
            </a:pPr>
            <a:r>
              <a:rPr b="1" lang="en-US" sz="1000">
                <a:solidFill>
                  <a:srgbClr val="2C5F2D"/>
                </a:solidFill>
                <a:latin typeface="Consolas"/>
                <a:ea typeface="Consolas"/>
                <a:cs typeface="Consolas"/>
                <a:sym typeface="Consolas"/>
              </a:rPr>
              <a:t>User sees results</a:t>
            </a:r>
            <a:endParaRPr b="0" i="0" sz="1000" u="none" cap="none" strike="noStrike">
              <a:solidFill>
                <a:schemeClr val="dk1"/>
              </a:solidFill>
              <a:latin typeface="Calibri"/>
              <a:ea typeface="Calibri"/>
              <a:cs typeface="Calibri"/>
              <a:sym typeface="Calibri"/>
            </a:endParaRPr>
          </a:p>
        </p:txBody>
      </p:sp>
      <p:sp>
        <p:nvSpPr>
          <p:cNvPr id="239" name="Google Shape;239;g3d68236bfc0_0_107"/>
          <p:cNvSpPr/>
          <p:nvPr/>
        </p:nvSpPr>
        <p:spPr>
          <a:xfrm>
            <a:off x="2651695" y="2286000"/>
            <a:ext cx="1554600" cy="2742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results.html</a:t>
            </a:r>
            <a:endParaRPr i="0" sz="1000" u="none" cap="none" strike="noStrike">
              <a:solidFill>
                <a:schemeClr val="dk1"/>
              </a:solidFill>
              <a:latin typeface="Calibri"/>
              <a:ea typeface="Calibri"/>
              <a:cs typeface="Calibri"/>
              <a:sym typeface="Calibri"/>
            </a:endParaRPr>
          </a:p>
        </p:txBody>
      </p:sp>
      <p:sp>
        <p:nvSpPr>
          <p:cNvPr id="240" name="Google Shape;240;g3d68236bfc0_0_107"/>
          <p:cNvSpPr/>
          <p:nvPr/>
        </p:nvSpPr>
        <p:spPr>
          <a:xfrm>
            <a:off x="457200" y="27432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lang="en-US" sz="1000">
                <a:solidFill>
                  <a:srgbClr val="2C5F2D"/>
                </a:solidFill>
                <a:latin typeface="Consolas"/>
                <a:ea typeface="Consolas"/>
                <a:cs typeface="Consolas"/>
                <a:sym typeface="Consolas"/>
              </a:rPr>
              <a:t>User explores bird details</a:t>
            </a:r>
            <a:endParaRPr b="0" i="0" sz="1000" u="none" cap="none" strike="noStrike">
              <a:solidFill>
                <a:schemeClr val="dk1"/>
              </a:solidFill>
              <a:latin typeface="Calibri"/>
              <a:ea typeface="Calibri"/>
              <a:cs typeface="Calibri"/>
              <a:sym typeface="Calibri"/>
            </a:endParaRPr>
          </a:p>
        </p:txBody>
      </p:sp>
      <p:sp>
        <p:nvSpPr>
          <p:cNvPr id="241" name="Google Shape;241;g3d68236bfc0_0_107"/>
          <p:cNvSpPr/>
          <p:nvPr/>
        </p:nvSpPr>
        <p:spPr>
          <a:xfrm>
            <a:off x="2651695" y="2743200"/>
            <a:ext cx="1554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bird_details.html</a:t>
            </a:r>
            <a:endParaRPr i="0" sz="1000" u="none" cap="none" strike="noStrike">
              <a:solidFill>
                <a:schemeClr val="dk1"/>
              </a:solidFill>
              <a:latin typeface="Calibri"/>
              <a:ea typeface="Calibri"/>
              <a:cs typeface="Calibri"/>
              <a:sym typeface="Calibri"/>
            </a:endParaRPr>
          </a:p>
        </p:txBody>
      </p:sp>
      <p:sp>
        <p:nvSpPr>
          <p:cNvPr id="242" name="Google Shape;242;g3d68236bfc0_0_107"/>
          <p:cNvSpPr/>
          <p:nvPr/>
        </p:nvSpPr>
        <p:spPr>
          <a:xfrm>
            <a:off x="457200" y="32004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lang="en-US" sz="1000">
                <a:solidFill>
                  <a:srgbClr val="2C5F2D"/>
                </a:solidFill>
                <a:latin typeface="Consolas"/>
                <a:ea typeface="Consolas"/>
                <a:cs typeface="Consolas"/>
                <a:sym typeface="Consolas"/>
              </a:rPr>
              <a:t>User reviews past searches</a:t>
            </a:r>
            <a:endParaRPr b="0" i="0" sz="1000" u="none" cap="none" strike="noStrike">
              <a:solidFill>
                <a:schemeClr val="dk1"/>
              </a:solidFill>
              <a:latin typeface="Calibri"/>
              <a:ea typeface="Calibri"/>
              <a:cs typeface="Calibri"/>
              <a:sym typeface="Calibri"/>
            </a:endParaRPr>
          </a:p>
        </p:txBody>
      </p:sp>
      <p:sp>
        <p:nvSpPr>
          <p:cNvPr id="243" name="Google Shape;243;g3d68236bfc0_0_107"/>
          <p:cNvSpPr/>
          <p:nvPr/>
        </p:nvSpPr>
        <p:spPr>
          <a:xfrm>
            <a:off x="2651695" y="3200400"/>
            <a:ext cx="1554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user_library.html</a:t>
            </a:r>
            <a:endParaRPr i="0" sz="1000" u="none" cap="none" strike="noStrike">
              <a:solidFill>
                <a:schemeClr val="dk1"/>
              </a:solidFill>
              <a:latin typeface="Calibri"/>
              <a:ea typeface="Calibri"/>
              <a:cs typeface="Calibri"/>
              <a:sym typeface="Calibri"/>
            </a:endParaRPr>
          </a:p>
        </p:txBody>
      </p:sp>
      <p:sp>
        <p:nvSpPr>
          <p:cNvPr id="244" name="Google Shape;244;g3d68236bfc0_0_107"/>
          <p:cNvSpPr/>
          <p:nvPr/>
        </p:nvSpPr>
        <p:spPr>
          <a:xfrm>
            <a:off x="457200" y="36576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i="0" lang="en-US" sz="1000" u="none" cap="none" strike="noStrike">
                <a:solidFill>
                  <a:srgbClr val="2C5F2D"/>
                </a:solidFill>
                <a:latin typeface="Consolas"/>
                <a:ea typeface="Consolas"/>
                <a:cs typeface="Consolas"/>
                <a:sym typeface="Consolas"/>
              </a:rPr>
              <a:t>POST /login</a:t>
            </a:r>
            <a:endParaRPr b="0" i="0" sz="1000" u="none" cap="none" strike="noStrike">
              <a:solidFill>
                <a:schemeClr val="dk1"/>
              </a:solidFill>
              <a:latin typeface="Calibri"/>
              <a:ea typeface="Calibri"/>
              <a:cs typeface="Calibri"/>
              <a:sym typeface="Calibri"/>
            </a:endParaRPr>
          </a:p>
        </p:txBody>
      </p:sp>
      <p:sp>
        <p:nvSpPr>
          <p:cNvPr id="245" name="Google Shape;245;g3d68236bfc0_0_107"/>
          <p:cNvSpPr/>
          <p:nvPr/>
        </p:nvSpPr>
        <p:spPr>
          <a:xfrm>
            <a:off x="2651695" y="3657600"/>
            <a:ext cx="1554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login.html</a:t>
            </a:r>
            <a:endParaRPr sz="1000">
              <a:solidFill>
                <a:srgbClr val="555555"/>
              </a:solidFill>
              <a:latin typeface="Calibri"/>
              <a:ea typeface="Calibri"/>
              <a:cs typeface="Calibri"/>
              <a:sym typeface="Calibri"/>
            </a:endParaRPr>
          </a:p>
        </p:txBody>
      </p:sp>
      <p:sp>
        <p:nvSpPr>
          <p:cNvPr id="246" name="Google Shape;246;g3d68236bfc0_0_107"/>
          <p:cNvSpPr/>
          <p:nvPr/>
        </p:nvSpPr>
        <p:spPr>
          <a:xfrm>
            <a:off x="457200" y="41148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i="0" lang="en-US" sz="1000" u="none" cap="none" strike="noStrike">
                <a:solidFill>
                  <a:srgbClr val="2C5F2D"/>
                </a:solidFill>
                <a:latin typeface="Consolas"/>
                <a:ea typeface="Consolas"/>
                <a:cs typeface="Consolas"/>
                <a:sym typeface="Consolas"/>
              </a:rPr>
              <a:t>POST /register</a:t>
            </a:r>
            <a:endParaRPr b="0" i="0" sz="1000" u="none" cap="none" strike="noStrike">
              <a:solidFill>
                <a:schemeClr val="dk1"/>
              </a:solidFill>
              <a:latin typeface="Calibri"/>
              <a:ea typeface="Calibri"/>
              <a:cs typeface="Calibri"/>
              <a:sym typeface="Calibri"/>
            </a:endParaRPr>
          </a:p>
        </p:txBody>
      </p:sp>
      <p:sp>
        <p:nvSpPr>
          <p:cNvPr id="247" name="Google Shape;247;g3d68236bfc0_0_107"/>
          <p:cNvSpPr/>
          <p:nvPr/>
        </p:nvSpPr>
        <p:spPr>
          <a:xfrm>
            <a:off x="2651695" y="4114800"/>
            <a:ext cx="1554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register.html</a:t>
            </a:r>
            <a:endParaRPr sz="1000">
              <a:solidFill>
                <a:srgbClr val="555555"/>
              </a:solidFill>
              <a:latin typeface="Calibri"/>
              <a:ea typeface="Calibri"/>
              <a:cs typeface="Calibri"/>
              <a:sym typeface="Calibri"/>
            </a:endParaRPr>
          </a:p>
        </p:txBody>
      </p:sp>
      <p:sp>
        <p:nvSpPr>
          <p:cNvPr id="248" name="Google Shape;248;g3d68236bfc0_0_107"/>
          <p:cNvSpPr txBox="1"/>
          <p:nvPr/>
        </p:nvSpPr>
        <p:spPr>
          <a:xfrm>
            <a:off x="9950650" y="1741300"/>
            <a:ext cx="679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49" name="Google Shape;249;g3d68236bfc0_0_107"/>
          <p:cNvSpPr/>
          <p:nvPr/>
        </p:nvSpPr>
        <p:spPr>
          <a:xfrm>
            <a:off x="4663445" y="868680"/>
            <a:ext cx="4023300" cy="40233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68236bfc0_0_107"/>
          <p:cNvSpPr/>
          <p:nvPr/>
        </p:nvSpPr>
        <p:spPr>
          <a:xfrm>
            <a:off x="4937825" y="960120"/>
            <a:ext cx="365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400"/>
              <a:buFont typeface="Georgia"/>
              <a:buNone/>
            </a:pPr>
            <a:r>
              <a:rPr b="1" i="0" lang="en-US" sz="1400" u="none" cap="none" strike="noStrike">
                <a:solidFill>
                  <a:srgbClr val="2C5F2D"/>
                </a:solidFill>
                <a:latin typeface="Georgia"/>
                <a:ea typeface="Georgia"/>
                <a:cs typeface="Georgia"/>
                <a:sym typeface="Georgia"/>
              </a:rPr>
              <a:t>Flask Routes</a:t>
            </a:r>
            <a:endParaRPr b="0" i="0" sz="1400" u="none" cap="none" strike="noStrike">
              <a:solidFill>
                <a:schemeClr val="dk1"/>
              </a:solidFill>
              <a:latin typeface="Calibri"/>
              <a:ea typeface="Calibri"/>
              <a:cs typeface="Calibri"/>
              <a:sym typeface="Calibri"/>
            </a:endParaRPr>
          </a:p>
        </p:txBody>
      </p:sp>
      <p:sp>
        <p:nvSpPr>
          <p:cNvPr id="251" name="Google Shape;251;g3d68236bfc0_0_107"/>
          <p:cNvSpPr/>
          <p:nvPr/>
        </p:nvSpPr>
        <p:spPr>
          <a:xfrm>
            <a:off x="4937825" y="13716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i="0" lang="en-US" sz="1000" u="none" cap="none" strike="noStrike">
                <a:solidFill>
                  <a:srgbClr val="2C5F2D"/>
                </a:solidFill>
                <a:latin typeface="Consolas"/>
                <a:ea typeface="Consolas"/>
                <a:cs typeface="Consolas"/>
                <a:sym typeface="Consolas"/>
              </a:rPr>
              <a:t>GET  /</a:t>
            </a:r>
            <a:endParaRPr b="0" i="0" sz="1000" u="none" cap="none" strike="noStrike">
              <a:solidFill>
                <a:schemeClr val="dk1"/>
              </a:solidFill>
              <a:latin typeface="Calibri"/>
              <a:ea typeface="Calibri"/>
              <a:cs typeface="Calibri"/>
              <a:sym typeface="Calibri"/>
            </a:endParaRPr>
          </a:p>
        </p:txBody>
      </p:sp>
      <p:sp>
        <p:nvSpPr>
          <p:cNvPr id="252" name="Google Shape;252;g3d68236bfc0_0_107"/>
          <p:cNvSpPr/>
          <p:nvPr/>
        </p:nvSpPr>
        <p:spPr>
          <a:xfrm>
            <a:off x="7040945" y="1371600"/>
            <a:ext cx="155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Landing page</a:t>
            </a:r>
            <a:endParaRPr b="0" i="0" sz="1000" u="none" cap="none" strike="noStrike">
              <a:solidFill>
                <a:schemeClr val="dk1"/>
              </a:solidFill>
              <a:latin typeface="Calibri"/>
              <a:ea typeface="Calibri"/>
              <a:cs typeface="Calibri"/>
              <a:sym typeface="Calibri"/>
            </a:endParaRPr>
          </a:p>
        </p:txBody>
      </p:sp>
      <p:sp>
        <p:nvSpPr>
          <p:cNvPr id="253" name="Google Shape;253;g3d68236bfc0_0_107"/>
          <p:cNvSpPr/>
          <p:nvPr/>
        </p:nvSpPr>
        <p:spPr>
          <a:xfrm>
            <a:off x="4937825" y="18288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i="0" lang="en-US" sz="1000" u="none" cap="none" strike="noStrike">
                <a:solidFill>
                  <a:srgbClr val="2C5F2D"/>
                </a:solidFill>
                <a:latin typeface="Consolas"/>
                <a:ea typeface="Consolas"/>
                <a:cs typeface="Consolas"/>
                <a:sym typeface="Consolas"/>
              </a:rPr>
              <a:t>GET  /upload</a:t>
            </a:r>
            <a:endParaRPr b="0" i="0" sz="1000" u="none" cap="none" strike="noStrike">
              <a:solidFill>
                <a:schemeClr val="dk1"/>
              </a:solidFill>
              <a:latin typeface="Calibri"/>
              <a:ea typeface="Calibri"/>
              <a:cs typeface="Calibri"/>
              <a:sym typeface="Calibri"/>
            </a:endParaRPr>
          </a:p>
        </p:txBody>
      </p:sp>
      <p:sp>
        <p:nvSpPr>
          <p:cNvPr id="254" name="Google Shape;254;g3d68236bfc0_0_107"/>
          <p:cNvSpPr/>
          <p:nvPr/>
        </p:nvSpPr>
        <p:spPr>
          <a:xfrm>
            <a:off x="7040945" y="1828800"/>
            <a:ext cx="155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Upload form (login required)</a:t>
            </a:r>
            <a:endParaRPr b="0" i="0" sz="1000" u="none" cap="none" strike="noStrike">
              <a:solidFill>
                <a:schemeClr val="dk1"/>
              </a:solidFill>
              <a:latin typeface="Calibri"/>
              <a:ea typeface="Calibri"/>
              <a:cs typeface="Calibri"/>
              <a:sym typeface="Calibri"/>
            </a:endParaRPr>
          </a:p>
        </p:txBody>
      </p:sp>
      <p:sp>
        <p:nvSpPr>
          <p:cNvPr id="255" name="Google Shape;255;g3d68236bfc0_0_107"/>
          <p:cNvSpPr/>
          <p:nvPr/>
        </p:nvSpPr>
        <p:spPr>
          <a:xfrm>
            <a:off x="4937825" y="22860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i="0" lang="en-US" sz="1000" u="none" cap="none" strike="noStrike">
                <a:solidFill>
                  <a:srgbClr val="2C5F2D"/>
                </a:solidFill>
                <a:latin typeface="Consolas"/>
                <a:ea typeface="Consolas"/>
                <a:cs typeface="Consolas"/>
                <a:sym typeface="Consolas"/>
              </a:rPr>
              <a:t>POST /analyze</a:t>
            </a:r>
            <a:endParaRPr b="0" i="0" sz="1000" u="none" cap="none" strike="noStrike">
              <a:solidFill>
                <a:schemeClr val="dk1"/>
              </a:solidFill>
              <a:latin typeface="Calibri"/>
              <a:ea typeface="Calibri"/>
              <a:cs typeface="Calibri"/>
              <a:sym typeface="Calibri"/>
            </a:endParaRPr>
          </a:p>
        </p:txBody>
      </p:sp>
      <p:sp>
        <p:nvSpPr>
          <p:cNvPr id="256" name="Google Shape;256;g3d68236bfc0_0_107"/>
          <p:cNvSpPr/>
          <p:nvPr/>
        </p:nvSpPr>
        <p:spPr>
          <a:xfrm>
            <a:off x="7040945" y="2286000"/>
            <a:ext cx="155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Receives file → runs pipeline → returns results</a:t>
            </a:r>
            <a:endParaRPr b="0" i="0" sz="1000" u="none" cap="none" strike="noStrike">
              <a:solidFill>
                <a:schemeClr val="dk1"/>
              </a:solidFill>
              <a:latin typeface="Calibri"/>
              <a:ea typeface="Calibri"/>
              <a:cs typeface="Calibri"/>
              <a:sym typeface="Calibri"/>
            </a:endParaRPr>
          </a:p>
        </p:txBody>
      </p:sp>
      <p:sp>
        <p:nvSpPr>
          <p:cNvPr id="257" name="Google Shape;257;g3d68236bfc0_0_107"/>
          <p:cNvSpPr/>
          <p:nvPr/>
        </p:nvSpPr>
        <p:spPr>
          <a:xfrm>
            <a:off x="4937825" y="27432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i="0" lang="en-US" sz="1000" u="none" cap="none" strike="noStrike">
                <a:solidFill>
                  <a:srgbClr val="2C5F2D"/>
                </a:solidFill>
                <a:latin typeface="Consolas"/>
                <a:ea typeface="Consolas"/>
                <a:cs typeface="Consolas"/>
                <a:sym typeface="Consolas"/>
              </a:rPr>
              <a:t>GET  /bird/&lt;n&gt;</a:t>
            </a:r>
            <a:endParaRPr b="0" i="0" sz="1000" u="none" cap="none" strike="noStrike">
              <a:solidFill>
                <a:schemeClr val="dk1"/>
              </a:solidFill>
              <a:latin typeface="Calibri"/>
              <a:ea typeface="Calibri"/>
              <a:cs typeface="Calibri"/>
              <a:sym typeface="Calibri"/>
            </a:endParaRPr>
          </a:p>
        </p:txBody>
      </p:sp>
      <p:sp>
        <p:nvSpPr>
          <p:cNvPr id="258" name="Google Shape;258;g3d68236bfc0_0_107"/>
          <p:cNvSpPr/>
          <p:nvPr/>
        </p:nvSpPr>
        <p:spPr>
          <a:xfrm>
            <a:off x="7040945" y="2743200"/>
            <a:ext cx="155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Species detail page from database</a:t>
            </a:r>
            <a:endParaRPr b="0" i="0" sz="1000" u="none" cap="none" strike="noStrike">
              <a:solidFill>
                <a:schemeClr val="dk1"/>
              </a:solidFill>
              <a:latin typeface="Calibri"/>
              <a:ea typeface="Calibri"/>
              <a:cs typeface="Calibri"/>
              <a:sym typeface="Calibri"/>
            </a:endParaRPr>
          </a:p>
        </p:txBody>
      </p:sp>
      <p:sp>
        <p:nvSpPr>
          <p:cNvPr id="259" name="Google Shape;259;g3d68236bfc0_0_107"/>
          <p:cNvSpPr/>
          <p:nvPr/>
        </p:nvSpPr>
        <p:spPr>
          <a:xfrm>
            <a:off x="4937825" y="32004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i="0" lang="en-US" sz="1000" u="none" cap="none" strike="noStrike">
                <a:solidFill>
                  <a:srgbClr val="2C5F2D"/>
                </a:solidFill>
                <a:latin typeface="Consolas"/>
                <a:ea typeface="Consolas"/>
                <a:cs typeface="Consolas"/>
                <a:sym typeface="Consolas"/>
              </a:rPr>
              <a:t>GET  /library</a:t>
            </a:r>
            <a:endParaRPr b="0" i="0" sz="1000" u="none" cap="none" strike="noStrike">
              <a:solidFill>
                <a:schemeClr val="dk1"/>
              </a:solidFill>
              <a:latin typeface="Calibri"/>
              <a:ea typeface="Calibri"/>
              <a:cs typeface="Calibri"/>
              <a:sym typeface="Calibri"/>
            </a:endParaRPr>
          </a:p>
        </p:txBody>
      </p:sp>
      <p:sp>
        <p:nvSpPr>
          <p:cNvPr id="260" name="Google Shape;260;g3d68236bfc0_0_107"/>
          <p:cNvSpPr/>
          <p:nvPr/>
        </p:nvSpPr>
        <p:spPr>
          <a:xfrm>
            <a:off x="7040945" y="3200400"/>
            <a:ext cx="155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User's identification history</a:t>
            </a:r>
            <a:endParaRPr b="0" i="0" sz="1000" u="none" cap="none" strike="noStrike">
              <a:solidFill>
                <a:schemeClr val="dk1"/>
              </a:solidFill>
              <a:latin typeface="Calibri"/>
              <a:ea typeface="Calibri"/>
              <a:cs typeface="Calibri"/>
              <a:sym typeface="Calibri"/>
            </a:endParaRPr>
          </a:p>
        </p:txBody>
      </p:sp>
      <p:sp>
        <p:nvSpPr>
          <p:cNvPr id="261" name="Google Shape;261;g3d68236bfc0_0_107"/>
          <p:cNvSpPr/>
          <p:nvPr/>
        </p:nvSpPr>
        <p:spPr>
          <a:xfrm>
            <a:off x="4937825" y="36576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i="0" lang="en-US" sz="1000" u="none" cap="none" strike="noStrike">
                <a:solidFill>
                  <a:srgbClr val="2C5F2D"/>
                </a:solidFill>
                <a:latin typeface="Consolas"/>
                <a:ea typeface="Consolas"/>
                <a:cs typeface="Consolas"/>
                <a:sym typeface="Consolas"/>
              </a:rPr>
              <a:t>POST /login</a:t>
            </a:r>
            <a:endParaRPr b="0" i="0" sz="1000" u="none" cap="none" strike="noStrike">
              <a:solidFill>
                <a:schemeClr val="dk1"/>
              </a:solidFill>
              <a:latin typeface="Calibri"/>
              <a:ea typeface="Calibri"/>
              <a:cs typeface="Calibri"/>
              <a:sym typeface="Calibri"/>
            </a:endParaRPr>
          </a:p>
        </p:txBody>
      </p:sp>
      <p:sp>
        <p:nvSpPr>
          <p:cNvPr id="262" name="Google Shape;262;g3d68236bfc0_0_107"/>
          <p:cNvSpPr/>
          <p:nvPr/>
        </p:nvSpPr>
        <p:spPr>
          <a:xfrm>
            <a:off x="7040945" y="3657600"/>
            <a:ext cx="155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Authenticate user</a:t>
            </a:r>
            <a:endParaRPr b="0" i="0" sz="1000" u="none" cap="none" strike="noStrike">
              <a:solidFill>
                <a:schemeClr val="dk1"/>
              </a:solidFill>
              <a:latin typeface="Calibri"/>
              <a:ea typeface="Calibri"/>
              <a:cs typeface="Calibri"/>
              <a:sym typeface="Calibri"/>
            </a:endParaRPr>
          </a:p>
        </p:txBody>
      </p:sp>
      <p:sp>
        <p:nvSpPr>
          <p:cNvPr id="263" name="Google Shape;263;g3d68236bfc0_0_107"/>
          <p:cNvSpPr/>
          <p:nvPr/>
        </p:nvSpPr>
        <p:spPr>
          <a:xfrm>
            <a:off x="4937825" y="4114800"/>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00"/>
              <a:buFont typeface="Consolas"/>
              <a:buNone/>
            </a:pPr>
            <a:r>
              <a:rPr b="1" i="0" lang="en-US" sz="1000" u="none" cap="none" strike="noStrike">
                <a:solidFill>
                  <a:srgbClr val="2C5F2D"/>
                </a:solidFill>
                <a:latin typeface="Consolas"/>
                <a:ea typeface="Consolas"/>
                <a:cs typeface="Consolas"/>
                <a:sym typeface="Consolas"/>
              </a:rPr>
              <a:t>POST /register</a:t>
            </a:r>
            <a:endParaRPr b="0" i="0" sz="1000" u="none" cap="none" strike="noStrike">
              <a:solidFill>
                <a:schemeClr val="dk1"/>
              </a:solidFill>
              <a:latin typeface="Calibri"/>
              <a:ea typeface="Calibri"/>
              <a:cs typeface="Calibri"/>
              <a:sym typeface="Calibri"/>
            </a:endParaRPr>
          </a:p>
        </p:txBody>
      </p:sp>
      <p:sp>
        <p:nvSpPr>
          <p:cNvPr id="264" name="Google Shape;264;g3d68236bfc0_0_107"/>
          <p:cNvSpPr/>
          <p:nvPr/>
        </p:nvSpPr>
        <p:spPr>
          <a:xfrm>
            <a:off x="7040945" y="4114800"/>
            <a:ext cx="155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Create account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0"/>
        </a:solidFill>
      </p:bgPr>
    </p:bg>
    <p:spTree>
      <p:nvGrpSpPr>
        <p:cNvPr id="269" name="Shape 269"/>
        <p:cNvGrpSpPr/>
        <p:nvPr/>
      </p:nvGrpSpPr>
      <p:grpSpPr>
        <a:xfrm>
          <a:off x="0" y="0"/>
          <a:ext cx="0" cy="0"/>
          <a:chOff x="0" y="0"/>
          <a:chExt cx="0" cy="0"/>
        </a:xfrm>
      </p:grpSpPr>
      <p:sp>
        <p:nvSpPr>
          <p:cNvPr id="270" name="Google Shape;270;p4"/>
          <p:cNvSpPr/>
          <p:nvPr/>
        </p:nvSpPr>
        <p:spPr>
          <a:xfrm>
            <a:off x="0" y="0"/>
            <a:ext cx="9144000" cy="68580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CHALLENGES</a:t>
            </a:r>
            <a:endParaRPr b="0" i="0" sz="2200" u="none" cap="none" strike="noStrike">
              <a:solidFill>
                <a:schemeClr val="dk1"/>
              </a:solidFill>
              <a:latin typeface="Calibri"/>
              <a:ea typeface="Calibri"/>
              <a:cs typeface="Calibri"/>
              <a:sym typeface="Calibri"/>
            </a:endParaRPr>
          </a:p>
        </p:txBody>
      </p:sp>
      <p:sp>
        <p:nvSpPr>
          <p:cNvPr id="272" name="Google Shape;272;p4"/>
          <p:cNvSpPr/>
          <p:nvPr/>
        </p:nvSpPr>
        <p:spPr>
          <a:xfrm>
            <a:off x="365760" y="914400"/>
            <a:ext cx="4114800" cy="173736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
          <p:cNvSpPr/>
          <p:nvPr/>
        </p:nvSpPr>
        <p:spPr>
          <a:xfrm>
            <a:off x="365760" y="914400"/>
            <a:ext cx="4114800" cy="347472"/>
          </a:xfrm>
          <a:prstGeom prst="rect">
            <a:avLst/>
          </a:prstGeom>
          <a:solidFill>
            <a:srgbClr val="EEF4E6"/>
          </a:solidFill>
          <a:ln cap="flat" cmpd="sng" w="12700">
            <a:solidFill>
              <a:srgbClr val="D0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
          <p:cNvSpPr/>
          <p:nvPr/>
        </p:nvSpPr>
        <p:spPr>
          <a:xfrm>
            <a:off x="502920" y="96012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Module Integration</a:t>
            </a:r>
            <a:endParaRPr b="0" i="0" sz="1300" u="none" cap="none" strike="noStrike">
              <a:solidFill>
                <a:schemeClr val="dk1"/>
              </a:solidFill>
              <a:latin typeface="Calibri"/>
              <a:ea typeface="Calibri"/>
              <a:cs typeface="Calibri"/>
              <a:sym typeface="Calibri"/>
            </a:endParaRPr>
          </a:p>
        </p:txBody>
      </p:sp>
      <p:sp>
        <p:nvSpPr>
          <p:cNvPr id="275" name="Google Shape;275;p4"/>
          <p:cNvSpPr/>
          <p:nvPr/>
        </p:nvSpPr>
        <p:spPr>
          <a:xfrm>
            <a:off x="502920" y="1353312"/>
            <a:ext cx="384048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Getting four independently built modules to integrate cleanly across different file structures and Python path configurations required establishing clear interface contracts early. Each teammate needed to know exactly what to pass in and what to expect back.</a:t>
            </a:r>
            <a:endParaRPr b="0" i="0" sz="1100" u="none" cap="none" strike="noStrike">
              <a:solidFill>
                <a:schemeClr val="dk1"/>
              </a:solidFill>
              <a:latin typeface="Calibri"/>
              <a:ea typeface="Calibri"/>
              <a:cs typeface="Calibri"/>
              <a:sym typeface="Calibri"/>
            </a:endParaRPr>
          </a:p>
        </p:txBody>
      </p:sp>
      <p:sp>
        <p:nvSpPr>
          <p:cNvPr id="276" name="Google Shape;276;p4"/>
          <p:cNvSpPr/>
          <p:nvPr/>
        </p:nvSpPr>
        <p:spPr>
          <a:xfrm>
            <a:off x="4800600" y="914400"/>
            <a:ext cx="4114800" cy="173736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
          <p:cNvSpPr/>
          <p:nvPr/>
        </p:nvSpPr>
        <p:spPr>
          <a:xfrm>
            <a:off x="4800600" y="914400"/>
            <a:ext cx="4114800" cy="347472"/>
          </a:xfrm>
          <a:prstGeom prst="rect">
            <a:avLst/>
          </a:prstGeom>
          <a:solidFill>
            <a:srgbClr val="EEF4E6"/>
          </a:solidFill>
          <a:ln cap="flat" cmpd="sng" w="12700">
            <a:solidFill>
              <a:srgbClr val="D0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
          <p:cNvSpPr/>
          <p:nvPr/>
        </p:nvSpPr>
        <p:spPr>
          <a:xfrm>
            <a:off x="4937760" y="96012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Algorithm Accuracy</a:t>
            </a:r>
            <a:endParaRPr b="0" i="0" sz="1300" u="none" cap="none" strike="noStrike">
              <a:solidFill>
                <a:schemeClr val="dk1"/>
              </a:solidFill>
              <a:latin typeface="Calibri"/>
              <a:ea typeface="Calibri"/>
              <a:cs typeface="Calibri"/>
              <a:sym typeface="Calibri"/>
            </a:endParaRPr>
          </a:p>
        </p:txBody>
      </p:sp>
      <p:sp>
        <p:nvSpPr>
          <p:cNvPr id="279" name="Google Shape;279;p4"/>
          <p:cNvSpPr/>
          <p:nvPr/>
        </p:nvSpPr>
        <p:spPr>
          <a:xfrm>
            <a:off x="4937760" y="1353312"/>
            <a:ext cx="384048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100"/>
              <a:buFont typeface="Calibri"/>
              <a:buNone/>
            </a:pPr>
            <a:r>
              <a:rPr lang="en-US" sz="1100">
                <a:solidFill>
                  <a:srgbClr val="444444"/>
                </a:solidFill>
                <a:latin typeface="Calibri"/>
                <a:ea typeface="Calibri"/>
                <a:cs typeface="Calibri"/>
                <a:sym typeface="Calibri"/>
              </a:rPr>
              <a:t>Increasing training data to 8 samples per target bird along with adding a hidden “background noise” class trained on spliced segments from the target bird samples significantly improved the quality of training. While there are still issues with overfitting, and some of the class distinction (represented by confidence scores) is lower than preferred, the model is able to accurately classify test bird calls that were not included in training data.</a:t>
            </a:r>
            <a:endParaRPr b="0" i="0" sz="1100" u="none" cap="none" strike="noStrike">
              <a:solidFill>
                <a:schemeClr val="dk1"/>
              </a:solidFill>
              <a:latin typeface="Calibri"/>
              <a:ea typeface="Calibri"/>
              <a:cs typeface="Calibri"/>
              <a:sym typeface="Calibri"/>
            </a:endParaRPr>
          </a:p>
        </p:txBody>
      </p:sp>
      <p:sp>
        <p:nvSpPr>
          <p:cNvPr id="280" name="Google Shape;280;p4"/>
          <p:cNvSpPr/>
          <p:nvPr/>
        </p:nvSpPr>
        <p:spPr>
          <a:xfrm>
            <a:off x="365760" y="2834640"/>
            <a:ext cx="4114800" cy="173736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
          <p:cNvSpPr/>
          <p:nvPr/>
        </p:nvSpPr>
        <p:spPr>
          <a:xfrm>
            <a:off x="365760" y="2834640"/>
            <a:ext cx="4114800" cy="347472"/>
          </a:xfrm>
          <a:prstGeom prst="rect">
            <a:avLst/>
          </a:prstGeom>
          <a:solidFill>
            <a:srgbClr val="EEF4E6"/>
          </a:solidFill>
          <a:ln cap="flat" cmpd="sng" w="12700">
            <a:solidFill>
              <a:srgbClr val="D0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
          <p:cNvSpPr/>
          <p:nvPr/>
        </p:nvSpPr>
        <p:spPr>
          <a:xfrm>
            <a:off x="502920" y="288036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Team Communication</a:t>
            </a:r>
            <a:endParaRPr b="0" i="0" sz="1300" u="none" cap="none" strike="noStrike">
              <a:solidFill>
                <a:schemeClr val="dk1"/>
              </a:solidFill>
              <a:latin typeface="Calibri"/>
              <a:ea typeface="Calibri"/>
              <a:cs typeface="Calibri"/>
              <a:sym typeface="Calibri"/>
            </a:endParaRPr>
          </a:p>
        </p:txBody>
      </p:sp>
      <p:sp>
        <p:nvSpPr>
          <p:cNvPr id="283" name="Google Shape;283;p4"/>
          <p:cNvSpPr/>
          <p:nvPr/>
        </p:nvSpPr>
        <p:spPr>
          <a:xfrm>
            <a:off x="502920" y="3273552"/>
            <a:ext cx="384048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Not all teammates took time to fully understand the full pipeline before meetings, which sometimes led to confusion surfacing as conflict rather than productive discussion. Decisions about architecture were challenged by teammates who didn't yet understand how the modules depended on each other.</a:t>
            </a:r>
            <a:endParaRPr b="0" i="0" sz="1100" u="none" cap="none" strike="noStrike">
              <a:solidFill>
                <a:schemeClr val="dk1"/>
              </a:solidFill>
              <a:latin typeface="Calibri"/>
              <a:ea typeface="Calibri"/>
              <a:cs typeface="Calibri"/>
              <a:sym typeface="Calibri"/>
            </a:endParaRPr>
          </a:p>
        </p:txBody>
      </p:sp>
      <p:sp>
        <p:nvSpPr>
          <p:cNvPr id="284" name="Google Shape;284;p4"/>
          <p:cNvSpPr/>
          <p:nvPr/>
        </p:nvSpPr>
        <p:spPr>
          <a:xfrm>
            <a:off x="4800600" y="2834640"/>
            <a:ext cx="4114800" cy="173736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
          <p:cNvSpPr/>
          <p:nvPr/>
        </p:nvSpPr>
        <p:spPr>
          <a:xfrm>
            <a:off x="4800600" y="2834640"/>
            <a:ext cx="4114800" cy="347472"/>
          </a:xfrm>
          <a:prstGeom prst="rect">
            <a:avLst/>
          </a:prstGeom>
          <a:solidFill>
            <a:srgbClr val="EEF4E6"/>
          </a:solidFill>
          <a:ln cap="flat" cmpd="sng" w="12700">
            <a:solidFill>
              <a:srgbClr val="D0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
          <p:cNvSpPr/>
          <p:nvPr/>
        </p:nvSpPr>
        <p:spPr>
          <a:xfrm>
            <a:off x="4937760" y="288036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300"/>
              <a:buFont typeface="Georgia"/>
              <a:buNone/>
            </a:pPr>
            <a:r>
              <a:rPr b="1" i="0" lang="en-US" sz="1300" u="none" cap="none" strike="noStrike">
                <a:solidFill>
                  <a:srgbClr val="2C5F2D"/>
                </a:solidFill>
                <a:latin typeface="Georgia"/>
                <a:ea typeface="Georgia"/>
                <a:cs typeface="Georgia"/>
                <a:sym typeface="Georgia"/>
              </a:rPr>
              <a:t>Environment Setup</a:t>
            </a:r>
            <a:endParaRPr b="0" i="0" sz="1300" u="none" cap="none" strike="noStrike">
              <a:solidFill>
                <a:schemeClr val="dk1"/>
              </a:solidFill>
              <a:latin typeface="Calibri"/>
              <a:ea typeface="Calibri"/>
              <a:cs typeface="Calibri"/>
              <a:sym typeface="Calibri"/>
            </a:endParaRPr>
          </a:p>
        </p:txBody>
      </p:sp>
      <p:sp>
        <p:nvSpPr>
          <p:cNvPr id="287" name="Google Shape;287;p4"/>
          <p:cNvSpPr/>
          <p:nvPr/>
        </p:nvSpPr>
        <p:spPr>
          <a:xfrm>
            <a:off x="4937760" y="3273552"/>
            <a:ext cx="384048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100"/>
              <a:buFont typeface="Calibri"/>
              <a:buNone/>
            </a:pPr>
            <a:r>
              <a:rPr b="0" i="0" lang="en-US" sz="1100" u="none" cap="none" strike="noStrike">
                <a:solidFill>
                  <a:srgbClr val="444444"/>
                </a:solidFill>
                <a:latin typeface="Calibri"/>
                <a:ea typeface="Calibri"/>
                <a:cs typeface="Calibri"/>
                <a:sym typeface="Calibri"/>
              </a:rPr>
              <a:t>Python path resolution and missing dependencies (librosa, matplotlib, Flask) caused significant early friction. Establishing a requirements.txt and consistent run commands resolved this, but it delayed integration testing. Our database is suppor</a:t>
            </a:r>
            <a:r>
              <a:rPr lang="en-US" sz="1100">
                <a:solidFill>
                  <a:srgbClr val="444444"/>
                </a:solidFill>
                <a:latin typeface="Calibri"/>
                <a:ea typeface="Calibri"/>
                <a:cs typeface="Calibri"/>
                <a:sym typeface="Calibri"/>
              </a:rPr>
              <a:t>ted by PostGreSQL, which requires separate hosting alongside the flask app. Installation varies between operating systems, which can delay integration testing.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0"/>
        </a:solidFill>
      </p:bgPr>
    </p:bg>
    <p:spTree>
      <p:nvGrpSpPr>
        <p:cNvPr id="292" name="Shape 292"/>
        <p:cNvGrpSpPr/>
        <p:nvPr/>
      </p:nvGrpSpPr>
      <p:grpSpPr>
        <a:xfrm>
          <a:off x="0" y="0"/>
          <a:ext cx="0" cy="0"/>
          <a:chOff x="0" y="0"/>
          <a:chExt cx="0" cy="0"/>
        </a:xfrm>
      </p:grpSpPr>
      <p:sp>
        <p:nvSpPr>
          <p:cNvPr id="293" name="Google Shape;293;p5"/>
          <p:cNvSpPr/>
          <p:nvPr/>
        </p:nvSpPr>
        <p:spPr>
          <a:xfrm>
            <a:off x="0" y="0"/>
            <a:ext cx="9144000" cy="68580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
          <p:cNvSpPr/>
          <p:nvPr/>
        </p:nvSpPr>
        <p:spPr>
          <a:xfrm>
            <a:off x="365760" y="0"/>
            <a:ext cx="84124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TEAM RETROSPECTIVE</a:t>
            </a:r>
            <a:endParaRPr b="0" i="0" sz="2200" u="none" cap="none" strike="noStrike">
              <a:solidFill>
                <a:schemeClr val="dk1"/>
              </a:solidFill>
              <a:latin typeface="Calibri"/>
              <a:ea typeface="Calibri"/>
              <a:cs typeface="Calibri"/>
              <a:sym typeface="Calibri"/>
            </a:endParaRPr>
          </a:p>
        </p:txBody>
      </p:sp>
      <p:sp>
        <p:nvSpPr>
          <p:cNvPr id="295" name="Google Shape;295;p5"/>
          <p:cNvSpPr/>
          <p:nvPr/>
        </p:nvSpPr>
        <p:spPr>
          <a:xfrm>
            <a:off x="365760" y="914400"/>
            <a:ext cx="2560320" cy="36576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
          <p:cNvSpPr/>
          <p:nvPr/>
        </p:nvSpPr>
        <p:spPr>
          <a:xfrm>
            <a:off x="365760" y="914400"/>
            <a:ext cx="2560320" cy="365760"/>
          </a:xfrm>
          <a:prstGeom prst="rect">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
          <p:cNvSpPr/>
          <p:nvPr/>
        </p:nvSpPr>
        <p:spPr>
          <a:xfrm>
            <a:off x="502920" y="91440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Went Well</a:t>
            </a:r>
            <a:endParaRPr b="0" i="0" sz="1400" u="none" cap="none" strike="noStrike">
              <a:solidFill>
                <a:schemeClr val="dk1"/>
              </a:solidFill>
              <a:latin typeface="Calibri"/>
              <a:ea typeface="Calibri"/>
              <a:cs typeface="Calibri"/>
              <a:sym typeface="Calibri"/>
            </a:endParaRPr>
          </a:p>
        </p:txBody>
      </p:sp>
      <p:sp>
        <p:nvSpPr>
          <p:cNvPr id="298" name="Google Shape;298;p5"/>
          <p:cNvSpPr/>
          <p:nvPr/>
        </p:nvSpPr>
        <p:spPr>
          <a:xfrm>
            <a:off x="502920" y="1371600"/>
            <a:ext cx="2331720" cy="3017520"/>
          </a:xfrm>
          <a:prstGeom prst="rect">
            <a:avLst/>
          </a:prstGeom>
          <a:noFill/>
          <a:ln>
            <a:noFill/>
          </a:ln>
        </p:spPr>
        <p:txBody>
          <a:bodyPr anchorCtr="0" anchor="t" bIns="0" lIns="0" spcFirstLastPara="1" rIns="0" wrap="square" tIns="0">
            <a:noAutofit/>
          </a:bodyPr>
          <a:lstStyle/>
          <a:p>
            <a:pPr indent="-355600" lvl="0" marL="342900" marR="0" rtl="0" algn="l">
              <a:spcBef>
                <a:spcPts val="0"/>
              </a:spcBef>
              <a:spcAft>
                <a:spcPts val="0"/>
              </a:spcAft>
              <a:buClr>
                <a:srgbClr val="333333"/>
              </a:buClr>
              <a:buSzPts val="1300"/>
              <a:buFont typeface="Calibri"/>
              <a:buChar char="•"/>
            </a:pPr>
            <a:r>
              <a:rPr b="0" i="0" lang="en-US" sz="1300" u="none" cap="none" strike="noStrike">
                <a:solidFill>
                  <a:srgbClr val="333333"/>
                </a:solidFill>
                <a:latin typeface="Calibri"/>
                <a:ea typeface="Calibri"/>
                <a:cs typeface="Calibri"/>
                <a:sym typeface="Calibri"/>
              </a:rPr>
              <a:t>Modular pipeline design let teammates build independently</a:t>
            </a:r>
            <a:endParaRPr b="0" i="0" sz="13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300"/>
              <a:buFont typeface="Calibri"/>
              <a:buChar char="•"/>
            </a:pPr>
            <a:r>
              <a:rPr b="0" i="0" lang="en-US" sz="1300" u="none" cap="none" strike="noStrike">
                <a:solidFill>
                  <a:srgbClr val="333333"/>
                </a:solidFill>
                <a:latin typeface="Calibri"/>
                <a:ea typeface="Calibri"/>
                <a:cs typeface="Calibri"/>
                <a:sym typeface="Calibri"/>
              </a:rPr>
              <a:t>Git branching and PR workflow kept the codebase clean</a:t>
            </a:r>
            <a:endParaRPr b="0" i="0" sz="13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300"/>
              <a:buFont typeface="Calibri"/>
              <a:buChar char="•"/>
            </a:pPr>
            <a:r>
              <a:rPr b="0" i="0" lang="en-US" sz="1300" u="none" cap="none" strike="noStrike">
                <a:solidFill>
                  <a:srgbClr val="333333"/>
                </a:solidFill>
                <a:latin typeface="Calibri"/>
                <a:ea typeface="Calibri"/>
                <a:cs typeface="Calibri"/>
                <a:sym typeface="Calibri"/>
              </a:rPr>
              <a:t>Clear interface contracts between modules</a:t>
            </a:r>
            <a:endParaRPr b="0" i="0" sz="13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300"/>
              <a:buFont typeface="Calibri"/>
              <a:buChar char="•"/>
            </a:pPr>
            <a:r>
              <a:rPr b="0" i="0" lang="en-US" sz="1300" u="none" cap="none" strike="noStrike">
                <a:solidFill>
                  <a:srgbClr val="333333"/>
                </a:solidFill>
                <a:latin typeface="Calibri"/>
                <a:ea typeface="Calibri"/>
                <a:cs typeface="Calibri"/>
                <a:sym typeface="Calibri"/>
              </a:rPr>
              <a:t>Pipeline runs end to end with real audio</a:t>
            </a:r>
            <a:endParaRPr b="0" i="0" sz="13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300"/>
              <a:buFont typeface="Calibri"/>
              <a:buChar char="•"/>
            </a:pPr>
            <a:r>
              <a:rPr b="0" i="0" lang="en-US" sz="1300" u="none" cap="none" strike="noStrike">
                <a:solidFill>
                  <a:srgbClr val="333333"/>
                </a:solidFill>
                <a:latin typeface="Calibri"/>
                <a:ea typeface="Calibri"/>
                <a:cs typeface="Calibri"/>
                <a:sym typeface="Calibri"/>
              </a:rPr>
              <a:t>requirements.txt and documentation reduced onboarding friction</a:t>
            </a:r>
            <a:endParaRPr b="0" i="0" sz="1300" u="none" cap="none" strike="noStrike">
              <a:solidFill>
                <a:schemeClr val="dk1"/>
              </a:solidFill>
              <a:latin typeface="Calibri"/>
              <a:ea typeface="Calibri"/>
              <a:cs typeface="Calibri"/>
              <a:sym typeface="Calibri"/>
            </a:endParaRPr>
          </a:p>
        </p:txBody>
      </p:sp>
      <p:sp>
        <p:nvSpPr>
          <p:cNvPr id="299" name="Google Shape;299;p5"/>
          <p:cNvSpPr/>
          <p:nvPr/>
        </p:nvSpPr>
        <p:spPr>
          <a:xfrm>
            <a:off x="3291840" y="914400"/>
            <a:ext cx="2560320" cy="36576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
          <p:cNvSpPr/>
          <p:nvPr/>
        </p:nvSpPr>
        <p:spPr>
          <a:xfrm>
            <a:off x="3291840" y="914400"/>
            <a:ext cx="2560320" cy="365760"/>
          </a:xfrm>
          <a:prstGeom prst="rect">
            <a:avLst/>
          </a:prstGeom>
          <a:solidFill>
            <a:srgbClr val="8B3A3A"/>
          </a:solidFill>
          <a:ln cap="flat" cmpd="sng" w="12700">
            <a:solidFill>
              <a:srgbClr val="8B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
          <p:cNvSpPr/>
          <p:nvPr/>
        </p:nvSpPr>
        <p:spPr>
          <a:xfrm>
            <a:off x="3429000" y="1371600"/>
            <a:ext cx="2331600" cy="3200400"/>
          </a:xfrm>
          <a:prstGeom prst="rect">
            <a:avLst/>
          </a:prstGeom>
          <a:noFill/>
          <a:ln>
            <a:noFill/>
          </a:ln>
        </p:spPr>
        <p:txBody>
          <a:bodyPr anchorCtr="0" anchor="t" bIns="0" lIns="0" spcFirstLastPara="1" rIns="0" wrap="square" tIns="0">
            <a:noAutofit/>
          </a:bodyPr>
          <a:lstStyle/>
          <a:p>
            <a:pPr indent="-355600" lvl="0" marL="342900" marR="0" rtl="0" algn="l">
              <a:spcBef>
                <a:spcPts val="0"/>
              </a:spcBef>
              <a:spcAft>
                <a:spcPts val="0"/>
              </a:spcAft>
              <a:buClr>
                <a:srgbClr val="333333"/>
              </a:buClr>
              <a:buSzPts val="1300"/>
              <a:buFont typeface="Calibri"/>
              <a:buChar char="•"/>
            </a:pPr>
            <a:r>
              <a:rPr b="0" i="0" lang="en-US" sz="1300" u="none" cap="none" strike="noStrike">
                <a:solidFill>
                  <a:srgbClr val="333333"/>
                </a:solidFill>
                <a:latin typeface="Calibri"/>
                <a:ea typeface="Calibri"/>
                <a:cs typeface="Calibri"/>
                <a:sym typeface="Calibri"/>
              </a:rPr>
              <a:t>Some teammates </a:t>
            </a:r>
            <a:r>
              <a:rPr lang="en-US" sz="1300">
                <a:solidFill>
                  <a:srgbClr val="333333"/>
                </a:solidFill>
                <a:latin typeface="Calibri"/>
                <a:ea typeface="Calibri"/>
                <a:cs typeface="Calibri"/>
                <a:sym typeface="Calibri"/>
              </a:rPr>
              <a:t>were still getting familiar with</a:t>
            </a:r>
            <a:r>
              <a:rPr b="0" i="0" lang="en-US" sz="1300" u="none" cap="none" strike="noStrike">
                <a:solidFill>
                  <a:srgbClr val="333333"/>
                </a:solidFill>
                <a:latin typeface="Calibri"/>
                <a:ea typeface="Calibri"/>
                <a:cs typeface="Calibri"/>
                <a:sym typeface="Calibri"/>
              </a:rPr>
              <a:t> full pipeline</a:t>
            </a:r>
            <a:r>
              <a:rPr lang="en-US" sz="1300">
                <a:solidFill>
                  <a:srgbClr val="333333"/>
                </a:solidFill>
                <a:latin typeface="Calibri"/>
                <a:ea typeface="Calibri"/>
                <a:cs typeface="Calibri"/>
                <a:sym typeface="Calibri"/>
              </a:rPr>
              <a:t>, which made early discussions challenging</a:t>
            </a:r>
            <a:endParaRPr b="0" i="0" sz="13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300"/>
              <a:buFont typeface="Calibri"/>
              <a:buChar char="•"/>
            </a:pPr>
            <a:r>
              <a:rPr lang="en-US" sz="1300">
                <a:solidFill>
                  <a:srgbClr val="333333"/>
                </a:solidFill>
                <a:latin typeface="Calibri"/>
                <a:ea typeface="Calibri"/>
                <a:cs typeface="Calibri"/>
                <a:sym typeface="Calibri"/>
              </a:rPr>
              <a:t>Uncertainty </a:t>
            </a:r>
            <a:r>
              <a:rPr b="0" i="0" lang="en-US" sz="1300" u="none" cap="none" strike="noStrike">
                <a:solidFill>
                  <a:srgbClr val="333333"/>
                </a:solidFill>
                <a:latin typeface="Calibri"/>
                <a:ea typeface="Calibri"/>
                <a:cs typeface="Calibri"/>
                <a:sym typeface="Calibri"/>
              </a:rPr>
              <a:t>about larger project structure </a:t>
            </a:r>
            <a:r>
              <a:rPr lang="en-US" sz="1300">
                <a:solidFill>
                  <a:srgbClr val="333333"/>
                </a:solidFill>
                <a:latin typeface="Calibri"/>
                <a:ea typeface="Calibri"/>
                <a:cs typeface="Calibri"/>
                <a:sym typeface="Calibri"/>
              </a:rPr>
              <a:t>occasionally led to misunderstandings</a:t>
            </a:r>
            <a:r>
              <a:rPr b="0" i="0" lang="en-US" sz="1300" u="none" cap="none" strike="noStrike">
                <a:solidFill>
                  <a:srgbClr val="333333"/>
                </a:solidFill>
                <a:latin typeface="Calibri"/>
                <a:ea typeface="Calibri"/>
                <a:cs typeface="Calibri"/>
                <a:sym typeface="Calibri"/>
              </a:rPr>
              <a:t> </a:t>
            </a:r>
            <a:r>
              <a:rPr lang="en-US" sz="1300">
                <a:solidFill>
                  <a:srgbClr val="333333"/>
                </a:solidFill>
                <a:latin typeface="Calibri"/>
                <a:ea typeface="Calibri"/>
                <a:cs typeface="Calibri"/>
                <a:sym typeface="Calibri"/>
              </a:rPr>
              <a:t>about file changes</a:t>
            </a:r>
            <a:endParaRPr sz="1300">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300"/>
              <a:buFont typeface="Calibri"/>
              <a:buChar char="•"/>
            </a:pPr>
            <a:r>
              <a:rPr lang="en-US" sz="1300">
                <a:solidFill>
                  <a:srgbClr val="333333"/>
                </a:solidFill>
                <a:latin typeface="Calibri"/>
                <a:ea typeface="Calibri"/>
                <a:cs typeface="Calibri"/>
                <a:sym typeface="Calibri"/>
              </a:rPr>
              <a:t>Some architectural concerns surfaced later in the process, which created some rework</a:t>
            </a:r>
            <a:endParaRPr sz="1300">
              <a:solidFill>
                <a:srgbClr val="333333"/>
              </a:solidFill>
              <a:latin typeface="Calibri"/>
              <a:ea typeface="Calibri"/>
              <a:cs typeface="Calibri"/>
              <a:sym typeface="Calibri"/>
            </a:endParaRPr>
          </a:p>
          <a:p>
            <a:pPr indent="-355600" lvl="0" marL="342900" marR="0" rtl="0" algn="l">
              <a:spcBef>
                <a:spcPts val="0"/>
              </a:spcBef>
              <a:spcAft>
                <a:spcPts val="0"/>
              </a:spcAft>
              <a:buClr>
                <a:srgbClr val="333333"/>
              </a:buClr>
              <a:buSzPts val="1300"/>
              <a:buFont typeface="Calibri"/>
              <a:buChar char="•"/>
            </a:pPr>
            <a:r>
              <a:rPr lang="en-US" sz="1300">
                <a:solidFill>
                  <a:srgbClr val="333333"/>
                </a:solidFill>
                <a:latin typeface="Calibri"/>
                <a:ea typeface="Calibri"/>
                <a:cs typeface="Calibri"/>
                <a:sym typeface="Calibri"/>
              </a:rPr>
              <a:t>Distinction between certain class types wasn’t always consistent. </a:t>
            </a:r>
            <a:r>
              <a:rPr lang="en-US" sz="1300">
                <a:solidFill>
                  <a:srgbClr val="333333"/>
                </a:solidFill>
                <a:latin typeface="Calibri"/>
                <a:ea typeface="Calibri"/>
                <a:cs typeface="Calibri"/>
                <a:sym typeface="Calibri"/>
              </a:rPr>
              <a:t>Some correct IDs are low-confidence</a:t>
            </a:r>
            <a:endParaRPr sz="1300">
              <a:solidFill>
                <a:srgbClr val="333333"/>
              </a:solidFill>
              <a:latin typeface="Calibri"/>
              <a:ea typeface="Calibri"/>
              <a:cs typeface="Calibri"/>
              <a:sym typeface="Calibri"/>
            </a:endParaRPr>
          </a:p>
        </p:txBody>
      </p:sp>
      <p:sp>
        <p:nvSpPr>
          <p:cNvPr id="302" name="Google Shape;302;p5"/>
          <p:cNvSpPr/>
          <p:nvPr/>
        </p:nvSpPr>
        <p:spPr>
          <a:xfrm>
            <a:off x="3429000" y="91440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Didn't Work</a:t>
            </a:r>
            <a:endParaRPr b="0" i="0" sz="1400" u="none" cap="none" strike="noStrike">
              <a:solidFill>
                <a:schemeClr val="dk1"/>
              </a:solidFill>
              <a:latin typeface="Calibri"/>
              <a:ea typeface="Calibri"/>
              <a:cs typeface="Calibri"/>
              <a:sym typeface="Calibri"/>
            </a:endParaRPr>
          </a:p>
        </p:txBody>
      </p:sp>
      <p:sp>
        <p:nvSpPr>
          <p:cNvPr id="303" name="Google Shape;303;p5"/>
          <p:cNvSpPr/>
          <p:nvPr/>
        </p:nvSpPr>
        <p:spPr>
          <a:xfrm>
            <a:off x="6217920" y="914400"/>
            <a:ext cx="2560320" cy="3657600"/>
          </a:xfrm>
          <a:prstGeom prst="rect">
            <a:avLst/>
          </a:prstGeom>
          <a:solidFill>
            <a:srgbClr val="FFFFFF"/>
          </a:solidFill>
          <a:ln cap="flat" cmpd="sng" w="12700">
            <a:solidFill>
              <a:srgbClr val="D0DCC0"/>
            </a:solidFill>
            <a:prstDash val="solid"/>
            <a:round/>
            <a:headEnd len="sm" w="sm" type="none"/>
            <a:tailEnd len="sm" w="sm" type="none"/>
          </a:ln>
          <a:effectLst>
            <a:outerShdw blurRad="508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
          <p:cNvSpPr/>
          <p:nvPr/>
        </p:nvSpPr>
        <p:spPr>
          <a:xfrm>
            <a:off x="6217920" y="914400"/>
            <a:ext cx="2560320" cy="365760"/>
          </a:xfrm>
          <a:prstGeom prst="rect">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
          <p:cNvSpPr/>
          <p:nvPr/>
        </p:nvSpPr>
        <p:spPr>
          <a:xfrm>
            <a:off x="6355080" y="91440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Improve</a:t>
            </a:r>
            <a:endParaRPr b="0" i="0" sz="1400" u="none" cap="none" strike="noStrike">
              <a:solidFill>
                <a:schemeClr val="dk1"/>
              </a:solidFill>
              <a:latin typeface="Calibri"/>
              <a:ea typeface="Calibri"/>
              <a:cs typeface="Calibri"/>
              <a:sym typeface="Calibri"/>
            </a:endParaRPr>
          </a:p>
        </p:txBody>
      </p:sp>
      <p:sp>
        <p:nvSpPr>
          <p:cNvPr id="306" name="Google Shape;306;p5"/>
          <p:cNvSpPr/>
          <p:nvPr/>
        </p:nvSpPr>
        <p:spPr>
          <a:xfrm>
            <a:off x="6355080" y="1371600"/>
            <a:ext cx="2331720" cy="3017520"/>
          </a:xfrm>
          <a:prstGeom prst="rect">
            <a:avLst/>
          </a:prstGeom>
          <a:noFill/>
          <a:ln>
            <a:noFill/>
          </a:ln>
        </p:spPr>
        <p:txBody>
          <a:bodyPr anchorCtr="0" anchor="t" bIns="0" lIns="0" spcFirstLastPara="1" rIns="0" wrap="square" tIns="0">
            <a:noAutofit/>
          </a:bodyPr>
          <a:lstStyle/>
          <a:p>
            <a:pPr indent="-355600" lvl="0" marL="342900" marR="0" rtl="0" algn="l">
              <a:spcBef>
                <a:spcPts val="0"/>
              </a:spcBef>
              <a:spcAft>
                <a:spcPts val="0"/>
              </a:spcAft>
              <a:buClr>
                <a:srgbClr val="333333"/>
              </a:buClr>
              <a:buSzPts val="1300"/>
              <a:buFont typeface="Calibri"/>
              <a:buChar char="•"/>
            </a:pPr>
            <a:r>
              <a:rPr b="0" i="0" lang="en-US" sz="1300" u="none" cap="none" strike="noStrike">
                <a:solidFill>
                  <a:srgbClr val="333333"/>
                </a:solidFill>
                <a:latin typeface="Calibri"/>
                <a:ea typeface="Calibri"/>
                <a:cs typeface="Calibri"/>
                <a:sym typeface="Calibri"/>
              </a:rPr>
              <a:t>Invest more time upfront ensuring everyone understands the full architecture before sprint work begins</a:t>
            </a:r>
            <a:endParaRPr b="0" i="0" sz="13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333333"/>
              </a:buClr>
              <a:buSzPts val="1300"/>
              <a:buFont typeface="Calibri"/>
              <a:buChar char="•"/>
            </a:pPr>
            <a:r>
              <a:rPr b="0" i="0" lang="en-US" sz="1300" u="none" cap="none" strike="noStrike">
                <a:solidFill>
                  <a:srgbClr val="333333"/>
                </a:solidFill>
                <a:latin typeface="Calibri"/>
                <a:ea typeface="Calibri"/>
                <a:cs typeface="Calibri"/>
                <a:sym typeface="Calibri"/>
              </a:rPr>
              <a:t>Use commit history as a shared, objective record of contributions</a:t>
            </a:r>
            <a:endParaRPr sz="1300">
              <a:solidFill>
                <a:srgbClr val="333333"/>
              </a:solidFill>
              <a:latin typeface="Calibri"/>
              <a:ea typeface="Calibri"/>
              <a:cs typeface="Calibri"/>
              <a:sym typeface="Calibri"/>
            </a:endParaRPr>
          </a:p>
          <a:p>
            <a:pPr indent="-355600" lvl="0" marL="342900" marR="0" rtl="0" algn="l">
              <a:spcBef>
                <a:spcPts val="0"/>
              </a:spcBef>
              <a:spcAft>
                <a:spcPts val="0"/>
              </a:spcAft>
              <a:buClr>
                <a:srgbClr val="333333"/>
              </a:buClr>
              <a:buSzPts val="1300"/>
              <a:buFont typeface="Calibri"/>
              <a:buChar char="•"/>
            </a:pPr>
            <a:r>
              <a:rPr b="0" i="0" lang="en-US" sz="1300" u="none" cap="none" strike="noStrike">
                <a:solidFill>
                  <a:srgbClr val="333333"/>
                </a:solidFill>
                <a:latin typeface="Calibri"/>
                <a:ea typeface="Calibri"/>
                <a:cs typeface="Calibri"/>
                <a:sym typeface="Calibri"/>
              </a:rPr>
              <a:t>Raise architectural disagreements earlier rather than mid-sprint</a:t>
            </a:r>
            <a:endParaRPr b="0" i="0" sz="1300" u="none" cap="none" strike="noStrike">
              <a:solidFill>
                <a:srgbClr val="333333"/>
              </a:solidFill>
              <a:latin typeface="Calibri"/>
              <a:ea typeface="Calibri"/>
              <a:cs typeface="Calibri"/>
              <a:sym typeface="Calibri"/>
            </a:endParaRPr>
          </a:p>
          <a:p>
            <a:pPr indent="-355600" lvl="0" marL="342900" marR="0" rtl="0" algn="l">
              <a:spcBef>
                <a:spcPts val="0"/>
              </a:spcBef>
              <a:spcAft>
                <a:spcPts val="0"/>
              </a:spcAft>
              <a:buClr>
                <a:srgbClr val="333333"/>
              </a:buClr>
              <a:buSzPts val="1300"/>
              <a:buFont typeface="Calibri"/>
              <a:buChar char="•"/>
            </a:pPr>
            <a:r>
              <a:rPr lang="en-US" sz="1300">
                <a:solidFill>
                  <a:srgbClr val="333333"/>
                </a:solidFill>
                <a:latin typeface="Calibri"/>
                <a:ea typeface="Calibri"/>
                <a:cs typeface="Calibri"/>
                <a:sym typeface="Calibri"/>
              </a:rPr>
              <a:t>More granular oversight (manual cropping) of reference files may improve training quality</a:t>
            </a:r>
            <a:endParaRPr sz="1300">
              <a:solidFill>
                <a:srgbClr val="333333"/>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1A"/>
        </a:solidFill>
      </p:bgPr>
    </p:bg>
    <p:spTree>
      <p:nvGrpSpPr>
        <p:cNvPr id="311" name="Shape 311"/>
        <p:cNvGrpSpPr/>
        <p:nvPr/>
      </p:nvGrpSpPr>
      <p:grpSpPr>
        <a:xfrm>
          <a:off x="0" y="0"/>
          <a:ext cx="0" cy="0"/>
          <a:chOff x="0" y="0"/>
          <a:chExt cx="0" cy="0"/>
        </a:xfrm>
      </p:grpSpPr>
      <p:sp>
        <p:nvSpPr>
          <p:cNvPr id="312" name="Google Shape;312;p6"/>
          <p:cNvSpPr/>
          <p:nvPr/>
        </p:nvSpPr>
        <p:spPr>
          <a:xfrm>
            <a:off x="0" y="0"/>
            <a:ext cx="274320" cy="5143500"/>
          </a:xfrm>
          <a:prstGeom prst="rect">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a:off x="548640" y="1371600"/>
            <a:ext cx="82296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600"/>
              <a:buFont typeface="Georgia"/>
              <a:buNone/>
            </a:pPr>
            <a:r>
              <a:rPr b="1" i="0" lang="en-US" sz="5600" u="none" cap="none" strike="noStrike">
                <a:solidFill>
                  <a:srgbClr val="FFFFFF"/>
                </a:solidFill>
                <a:latin typeface="Georgia"/>
                <a:ea typeface="Georgia"/>
                <a:cs typeface="Georgia"/>
                <a:sym typeface="Georgia"/>
              </a:rPr>
              <a:t>LIVE DEMO</a:t>
            </a:r>
            <a:endParaRPr b="0" i="0" sz="5600" u="none" cap="none" strike="noStrike">
              <a:solidFill>
                <a:schemeClr val="dk1"/>
              </a:solidFill>
              <a:latin typeface="Calibri"/>
              <a:ea typeface="Calibri"/>
              <a:cs typeface="Calibri"/>
              <a:sym typeface="Calibri"/>
            </a:endParaRPr>
          </a:p>
        </p:txBody>
      </p:sp>
      <p:sp>
        <p:nvSpPr>
          <p:cNvPr id="314" name="Google Shape;314;p6"/>
          <p:cNvSpPr/>
          <p:nvPr/>
        </p:nvSpPr>
        <p:spPr>
          <a:xfrm>
            <a:off x="548640" y="246888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800"/>
              <a:buFont typeface="Calibri"/>
              <a:buNone/>
            </a:pPr>
            <a:r>
              <a:rPr b="0" i="1" lang="en-US" sz="1800" u="none" cap="none" strike="noStrike">
                <a:solidFill>
                  <a:srgbClr val="97BC62"/>
                </a:solidFill>
                <a:latin typeface="Calibri"/>
                <a:ea typeface="Calibri"/>
                <a:cs typeface="Calibri"/>
                <a:sym typeface="Calibri"/>
              </a:rPr>
              <a:t>Cawler ID</a:t>
            </a:r>
            <a:endParaRPr i="1" sz="1800">
              <a:solidFill>
                <a:srgbClr val="97BC62"/>
              </a:solidFill>
              <a:latin typeface="Calibri"/>
              <a:ea typeface="Calibri"/>
              <a:cs typeface="Calibri"/>
              <a:sym typeface="Calibri"/>
            </a:endParaRPr>
          </a:p>
          <a:p>
            <a:pPr indent="0" lvl="0" marL="0" marR="0" rtl="0" algn="l">
              <a:spcBef>
                <a:spcPts val="0"/>
              </a:spcBef>
              <a:spcAft>
                <a:spcPts val="0"/>
              </a:spcAft>
              <a:buClr>
                <a:srgbClr val="97BC62"/>
              </a:buClr>
              <a:buSzPts val="1800"/>
              <a:buFont typeface="Calibri"/>
              <a:buNone/>
            </a:pPr>
            <a:r>
              <a:rPr b="0" i="1" lang="en-US" sz="1800" u="none" cap="none" strike="noStrike">
                <a:solidFill>
                  <a:srgbClr val="97BC62"/>
                </a:solidFill>
                <a:latin typeface="Calibri"/>
                <a:ea typeface="Calibri"/>
                <a:cs typeface="Calibri"/>
                <a:sym typeface="Calibri"/>
              </a:rPr>
              <a:t>Bird Call Identification Pipeline</a:t>
            </a:r>
            <a:endParaRPr b="0" i="0" sz="1800" u="none" cap="none" strike="noStrike">
              <a:solidFill>
                <a:schemeClr val="dk1"/>
              </a:solidFill>
              <a:latin typeface="Calibri"/>
              <a:ea typeface="Calibri"/>
              <a:cs typeface="Calibri"/>
              <a:sym typeface="Calibri"/>
            </a:endParaRPr>
          </a:p>
        </p:txBody>
      </p:sp>
      <p:sp>
        <p:nvSpPr>
          <p:cNvPr id="315" name="Google Shape;315;p6"/>
          <p:cNvSpPr/>
          <p:nvPr/>
        </p:nvSpPr>
        <p:spPr>
          <a:xfrm>
            <a:off x="548640" y="3108960"/>
            <a:ext cx="82296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400"/>
              <a:buFont typeface="Calibri"/>
              <a:buNone/>
            </a:pPr>
            <a:r>
              <a:rPr b="0" i="0" lang="en-US" sz="1400" u="none" cap="none" strike="noStrike">
                <a:solidFill>
                  <a:srgbClr val="F5F5F0"/>
                </a:solidFill>
                <a:latin typeface="Calibri"/>
                <a:ea typeface="Calibri"/>
                <a:cs typeface="Calibri"/>
                <a:sym typeface="Calibri"/>
              </a:rPr>
              <a:t>1  Upload an audio file (MP3 or WAV)</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F5F0"/>
              </a:buClr>
              <a:buSzPts val="1400"/>
              <a:buFont typeface="Calibri"/>
              <a:buNone/>
            </a:pPr>
            <a:r>
              <a:rPr b="0" i="0" lang="en-US" sz="1400" u="none" cap="none" strike="noStrike">
                <a:solidFill>
                  <a:srgbClr val="F5F5F0"/>
                </a:solidFill>
                <a:latin typeface="Calibri"/>
                <a:ea typeface="Calibri"/>
                <a:cs typeface="Calibri"/>
                <a:sym typeface="Calibri"/>
              </a:rPr>
              <a:t>2  Pipeline converts audio → mel-spectrogram → similarity scores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F5F0"/>
              </a:buClr>
              <a:buSzPts val="1400"/>
              <a:buFont typeface="Calibri"/>
              <a:buNone/>
            </a:pPr>
            <a:r>
              <a:rPr b="0" i="0" lang="en-US" sz="1400" u="none" cap="none" strike="noStrike">
                <a:solidFill>
                  <a:srgbClr val="F5F5F0"/>
                </a:solidFill>
                <a:latin typeface="Calibri"/>
                <a:ea typeface="Calibri"/>
                <a:cs typeface="Calibri"/>
                <a:sym typeface="Calibri"/>
              </a:rPr>
              <a:t>3  Results page returns ranked bird species matches</a:t>
            </a:r>
            <a:endParaRPr b="0" i="0" sz="1400" u="none" cap="none" strike="noStrike">
              <a:solidFill>
                <a:schemeClr val="dk1"/>
              </a:solidFill>
              <a:latin typeface="Calibri"/>
              <a:ea typeface="Calibri"/>
              <a:cs typeface="Calibri"/>
              <a:sym typeface="Calibri"/>
            </a:endParaRPr>
          </a:p>
        </p:txBody>
      </p:sp>
      <p:sp>
        <p:nvSpPr>
          <p:cNvPr id="316" name="Google Shape;316;p6"/>
          <p:cNvSpPr/>
          <p:nvPr/>
        </p:nvSpPr>
        <p:spPr>
          <a:xfrm>
            <a:off x="548640" y="45720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FA8"/>
              </a:buClr>
              <a:buSzPts val="1300"/>
              <a:buFont typeface="Consolas"/>
              <a:buNone/>
            </a:pPr>
            <a:r>
              <a:rPr b="0" i="0" lang="en-US" sz="1300" u="none" cap="none" strike="noStrike">
                <a:solidFill>
                  <a:srgbClr val="A8BFA8"/>
                </a:solidFill>
                <a:latin typeface="Consolas"/>
                <a:ea typeface="Consolas"/>
                <a:cs typeface="Consolas"/>
                <a:sym typeface="Consolas"/>
              </a:rPr>
              <a:t>python ui/app.py   →   localhost:5000</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2026-04-15T22:14:01Z</dcterms:created>
  <dc:creator>PptxGenJS</dc:creator>
</cp:coreProperties>
</file>